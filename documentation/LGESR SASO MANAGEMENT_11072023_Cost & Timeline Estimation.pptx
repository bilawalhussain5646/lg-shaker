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318" r:id="rId3"/>
    <p:sldId id="335" r:id="rId4"/>
    <p:sldId id="336" r:id="rId5"/>
    <p:sldId id="337" r:id="rId6"/>
    <p:sldId id="338" r:id="rId7"/>
    <p:sldId id="340" r:id="rId8"/>
    <p:sldId id="343" r:id="rId9"/>
    <p:sldId id="342" r:id="rId10"/>
    <p:sldId id="302" r:id="rId11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34"/>
    <a:srgbClr val="F2F2F2"/>
    <a:srgbClr val="C00000"/>
    <a:srgbClr val="D22239"/>
    <a:srgbClr val="FBE5D6"/>
    <a:srgbClr val="ED7D31"/>
    <a:srgbClr val="A6A6A6"/>
    <a:srgbClr val="FFFF00"/>
    <a:srgbClr val="C5E0B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11" autoAdjust="0"/>
    <p:restoredTop sz="96247" autoAdjust="0"/>
  </p:normalViewPr>
  <p:slideViewPr>
    <p:cSldViewPr snapToGrid="0" showGuides="1">
      <p:cViewPr varScale="1">
        <p:scale>
          <a:sx n="86" d="100"/>
          <a:sy n="86" d="100"/>
        </p:scale>
        <p:origin x="90" y="192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70012-9C09-4D4B-9FD5-7CDE5680B6EE}" type="datetimeFigureOut">
              <a:rPr lang="ko-KR" altLang="en-US" smtClean="0"/>
              <a:t>2023-07-11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0B87A-39AA-4E15-8767-95736DA3EA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714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6B3A8-21CC-4FEF-BC79-E2118D78152D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F9C7B-F5AB-4862-A8A2-01AE9DEC356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31464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F9C7B-F5AB-4862-A8A2-01AE9DEC356C}" type="slidenum">
              <a:rPr lang="en-AE" smtClean="0"/>
              <a:t>1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213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64DD-0DD6-ACD1-9F23-5D7C72DEE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939B6-4DF0-0D27-A273-9F43E10D9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2B24A-86E5-F344-8ACE-5ED24FE3C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51A3545-BF86-4D4E-856C-46C97726245E}" type="datetimeFigureOut">
              <a:rPr lang="en-AE" smtClean="0"/>
              <a:pPr/>
              <a:t>11/07/2023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DC4BF-2CBC-DE68-E442-519E97E33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23944-5D8B-5ACB-D2E9-FC842782C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2B8D45A9-5698-4E43-A6FA-199FF0541676}" type="slidenum">
              <a:rPr lang="en-AE" smtClean="0"/>
              <a:pPr/>
              <a:t>‹#›</a:t>
            </a:fld>
            <a:endParaRPr lang="en-AE"/>
          </a:p>
        </p:txBody>
      </p:sp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0021398B-FA0D-3CEB-B3B1-F9E5AC6728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991" y="7706"/>
            <a:ext cx="711485" cy="7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90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C5BCF-0A91-046F-DFC0-624D8D795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6808"/>
          </a:xfrm>
        </p:spPr>
        <p:txBody>
          <a:bodyPr>
            <a:normAutofit/>
          </a:bodyPr>
          <a:lstStyle>
            <a:lvl1pPr>
              <a:defRPr sz="2400">
                <a:latin typeface="Arial Nova Light" panose="020B03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7C10C-6AEA-A5A6-EF1B-C0E24128C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 Light" panose="020B0304020202020204" pitchFamily="34" charset="0"/>
              </a:defRPr>
            </a:lvl1pPr>
          </a:lstStyle>
          <a:p>
            <a:fld id="{951A3545-BF86-4D4E-856C-46C97726245E}" type="datetimeFigureOut">
              <a:rPr lang="en-AE" smtClean="0"/>
              <a:pPr/>
              <a:t>11/07/2023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6B21D-0DEA-C5B0-AFC0-63C65F4C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 Light" panose="020B0304020202020204" pitchFamily="34" charset="0"/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ACF9E-08AC-2271-8B6C-7313DE0B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 Light" panose="020B0304020202020204" pitchFamily="34" charset="0"/>
              </a:defRPr>
            </a:lvl1pPr>
          </a:lstStyle>
          <a:p>
            <a:fld id="{2B8D45A9-5698-4E43-A6FA-199FF0541676}" type="slidenum">
              <a:rPr lang="en-AE" smtClean="0"/>
              <a:pPr/>
              <a:t>‹#›</a:t>
            </a:fld>
            <a:endParaRPr lang="en-A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6834F12-6EAF-ACD1-81C0-FE1E6F84240D}"/>
              </a:ext>
            </a:extLst>
          </p:cNvPr>
          <p:cNvCxnSpPr/>
          <p:nvPr userDrawn="1"/>
        </p:nvCxnSpPr>
        <p:spPr>
          <a:xfrm>
            <a:off x="838200" y="821934"/>
            <a:ext cx="10515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522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E860-FBAC-6CF0-CA07-A66B41E50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759C2-1A8E-B813-5FEF-773829182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C99F2-502C-E582-3968-F0C1749F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91CAD-C279-2CA5-10CB-F5A96F21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03919-B1C0-6FE4-9E7A-FB4ED20A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9329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27DB-6A3E-41A9-79E6-B488AD59C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4691-3760-CDBE-B438-A8A3F67B2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4DB23-1BDE-2E64-99E9-74417F295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EEBC3-7129-31D3-B6F6-401B0016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2164-A58A-5DB2-5D00-361A3F75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61EF8-6342-913C-C304-0E225A99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0469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38C5-9C17-44BB-78AD-69F3AE650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E4E68-2AB7-BF6E-C423-9027D984D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3853EB-1EE6-10A6-61C1-F8C9CFD98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0C0DFA-1AEE-7545-0BC8-E45A477AF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14197B-EA9D-6547-BBA0-541931F72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B8898-B795-6B7F-DF41-280F4BD3A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D2EBB-D012-90CB-2347-962051FD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09805-45C0-DCE2-4C0D-D79D66DB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4961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A7B63-7D1E-C737-AAC4-B59722ACB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38FC1-5CF9-0FFA-2D32-56367068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07DAE-608D-41EA-F4FE-4510F1BE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3AFA9-6219-8E85-4B89-37CD6EEB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83941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FC1A12-393C-1109-C77A-1090961F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61D91-7D1D-0117-CA63-27EAED16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8FC08-FF5D-FDE6-475B-A98464551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0379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9991-79F4-DCC7-5690-1560923A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F1152-A5D3-61B3-8D9F-77D1A10F1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5E8DD-D860-0B7A-BC1D-8F24DACA8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31A9B-6D0E-1272-257B-B015C10D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260B4-B96E-4074-375C-C536E66E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F00F42-63E6-716A-DFDB-AE74FADB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392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804CB-9D3F-A13D-2488-164DA8A31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E5809-122F-2AAF-31D6-5F18893DF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B1A7D-A2E1-334C-E2FE-0017A837A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3F532-5C12-FD19-EB48-AC4F33069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656DB-414C-059A-0F62-60B962A78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73D00-FFB4-0300-08F3-01991934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2034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5F68-A3C7-FD5A-1F01-5C9023A32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7DC7B-0161-D3B6-22F1-F4F26D1D9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5743-BD81-9340-91FB-3436749AB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4A01D-16CE-E493-41D0-4512C7B0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182C-F133-6790-38C4-D9F3A1E9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94609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58E9A-E623-8940-748D-F2407AE88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BCC22-B951-882B-3DF8-B1413C055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016B-34E5-C86B-9E5B-8E7877A3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C7FD-8775-B19E-FF03-5B3724F9F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0F254-ABAA-F635-7C6B-5F8B6580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34640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590EEC-7543-231E-E079-85CCC66A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DA986-8F00-48FB-0E4A-B86C9AAE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D4E71-39F4-6AD1-CA2B-27E0F9F21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A3545-BF86-4D4E-856C-46C97726245E}" type="datetimeFigureOut">
              <a:rPr lang="en-AE" smtClean="0"/>
              <a:t>11/07/2023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1B047-6ED6-7050-A96D-762581F26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B7827-AC8B-FBC3-392A-E77EC947A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D45A9-5698-4E43-A6FA-199FF054167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0413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mansoor.syed@hsadmea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D2E4-3CE9-427D-BE37-B39BCC395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pc="-300" dirty="0" err="1"/>
              <a:t>LGESR_SASO_Microsite</a:t>
            </a:r>
            <a:endParaRPr lang="en-AE" spc="-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6EF72-0795-E9D6-E105-8E546406FF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50" dirty="0"/>
              <a:t>MICROSITE &amp; SASO MANGMENT</a:t>
            </a:r>
            <a:endParaRPr lang="en-AE" spc="-150" dirty="0"/>
          </a:p>
        </p:txBody>
      </p:sp>
    </p:spTree>
    <p:extLst>
      <p:ext uri="{BB962C8B-B14F-4D97-AF65-F5344CB8AC3E}">
        <p14:creationId xmlns:p14="http://schemas.microsoft.com/office/powerpoint/2010/main" val="605370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3304889" y="2711859"/>
            <a:ext cx="5582220" cy="3550623"/>
          </a:xfrm>
          <a:prstGeom prst="roundRect">
            <a:avLst>
              <a:gd name="adj" fmla="val 7544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Front End Desktop</a:t>
            </a:r>
            <a:endParaRPr lang="en-AE" dirty="0">
              <a:latin typeface="Arial Nova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FB3D6-4C44-70F4-6045-3E949BBD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13499"/>
            <a:ext cx="10515601" cy="98918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220A2D9-BE42-A3DE-C91E-552348D6D9DC}"/>
              </a:ext>
            </a:extLst>
          </p:cNvPr>
          <p:cNvGrpSpPr/>
          <p:nvPr/>
        </p:nvGrpSpPr>
        <p:grpSpPr>
          <a:xfrm>
            <a:off x="4561699" y="3655914"/>
            <a:ext cx="3068600" cy="1385085"/>
            <a:chOff x="4683318" y="3655914"/>
            <a:chExt cx="3068600" cy="13850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2333D8-DF66-86B1-EF00-EEC2629128AA}"/>
                </a:ext>
              </a:extLst>
            </p:cNvPr>
            <p:cNvSpPr txBox="1"/>
            <p:nvPr/>
          </p:nvSpPr>
          <p:spPr>
            <a:xfrm>
              <a:off x="4951924" y="3655914"/>
              <a:ext cx="5806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G Smart Light" panose="020B0302040402060203" pitchFamily="34" charset="0"/>
                </a:rPr>
                <a:t>Email ID</a:t>
              </a:r>
              <a:endParaRPr lang="en-AE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599B5F-7D86-7DB3-39D3-6A23ACAC151C}"/>
                </a:ext>
              </a:extLst>
            </p:cNvPr>
            <p:cNvSpPr txBox="1"/>
            <p:nvPr/>
          </p:nvSpPr>
          <p:spPr>
            <a:xfrm>
              <a:off x="4951924" y="4487171"/>
              <a:ext cx="6575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G Smart Light" panose="020B0302040402060203" pitchFamily="34" charset="0"/>
                </a:rPr>
                <a:t>Password</a:t>
              </a:r>
              <a:endParaRPr lang="en-AE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endParaRP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0A24F72E-811A-C53C-F174-48C2080CA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83318" y="3830496"/>
              <a:ext cx="357963" cy="357963"/>
            </a:xfrm>
            <a:prstGeom prst="rect">
              <a:avLst/>
            </a:prstGeom>
          </p:spPr>
        </p:pic>
        <p:pic>
          <p:nvPicPr>
            <p:cNvPr id="13" name="Graphic 12" descr="Key with solid fill">
              <a:extLst>
                <a:ext uri="{FF2B5EF4-FFF2-40B4-BE49-F238E27FC236}">
                  <a16:creationId xmlns:a16="http://schemas.microsoft.com/office/drawing/2014/main" id="{0EF9D0A1-7722-1BFE-E944-D27987857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86300" y="4683036"/>
              <a:ext cx="357963" cy="35796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529237-5CC8-1BE2-681A-E6202D2426F4}"/>
                </a:ext>
              </a:extLst>
            </p:cNvPr>
            <p:cNvSpPr/>
            <p:nvPr/>
          </p:nvSpPr>
          <p:spPr>
            <a:xfrm>
              <a:off x="5041282" y="3902135"/>
              <a:ext cx="2710636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rgbClr val="C00000"/>
                  </a:solidFill>
                  <a:latin typeface="LG Smart Light" panose="020B0302040402060203" pitchFamily="34" charset="0"/>
                </a:rPr>
                <a:t>ABCD@lge.com</a:t>
              </a:r>
              <a:endParaRPr lang="en-AE" sz="1100" b="1" dirty="0">
                <a:solidFill>
                  <a:srgbClr val="C00000"/>
                </a:solidFill>
                <a:latin typeface="LG Smart Light" panose="020B030204040206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D6DAAC-A908-8619-800F-1FD68FF4CDB0}"/>
                </a:ext>
              </a:extLst>
            </p:cNvPr>
            <p:cNvSpPr/>
            <p:nvPr/>
          </p:nvSpPr>
          <p:spPr>
            <a:xfrm>
              <a:off x="5041282" y="4738908"/>
              <a:ext cx="2710636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rgbClr val="C00000"/>
                  </a:solidFill>
                  <a:latin typeface="LG Smart Light" panose="020B0302040402060203" pitchFamily="34" charset="0"/>
                </a:rPr>
                <a:t>XXXXXXXXXXXXXX</a:t>
              </a:r>
              <a:endParaRPr lang="en-AE" sz="1100" b="1" dirty="0">
                <a:solidFill>
                  <a:srgbClr val="C00000"/>
                </a:solidFill>
                <a:latin typeface="LG Smart Light" panose="020B030204040206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1027D59-3A26-705B-47AB-7850B9353BD9}"/>
              </a:ext>
            </a:extLst>
          </p:cNvPr>
          <p:cNvSpPr txBox="1"/>
          <p:nvPr/>
        </p:nvSpPr>
        <p:spPr>
          <a:xfrm>
            <a:off x="4628482" y="2942251"/>
            <a:ext cx="293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Authorized Personal Login Area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775165D-7E0B-E830-EDAA-33CD5D59D3A6}"/>
              </a:ext>
            </a:extLst>
          </p:cNvPr>
          <p:cNvSpPr/>
          <p:nvPr/>
        </p:nvSpPr>
        <p:spPr>
          <a:xfrm>
            <a:off x="5410913" y="5384800"/>
            <a:ext cx="1281987" cy="296222"/>
          </a:xfrm>
          <a:prstGeom prst="roundRect">
            <a:avLst>
              <a:gd name="adj" fmla="val 11112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LG Smart Light" panose="020B0302040402060203" pitchFamily="34" charset="0"/>
              </a:rPr>
              <a:t>LOGIN</a:t>
            </a:r>
            <a:endParaRPr lang="en-AE" sz="1400" b="1" dirty="0">
              <a:latin typeface="LG Smart Light" panose="020B03020404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83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838200" y="2241844"/>
            <a:ext cx="10515600" cy="4463756"/>
          </a:xfrm>
          <a:prstGeom prst="roundRect">
            <a:avLst>
              <a:gd name="adj" fmla="val 2536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Front End Desktop</a:t>
            </a:r>
            <a:endParaRPr lang="en-AE" dirty="0">
              <a:latin typeface="Arial Nova" panose="020B05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FB3D6-4C44-70F4-6045-3E949BBD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13499"/>
            <a:ext cx="10515601" cy="98918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77EB46-C2F5-8703-DE1B-4521A49DA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057224"/>
              </p:ext>
            </p:extLst>
          </p:nvPr>
        </p:nvGraphicFramePr>
        <p:xfrm>
          <a:off x="1257303" y="4184870"/>
          <a:ext cx="9944096" cy="2520725"/>
        </p:xfrm>
        <a:graphic>
          <a:graphicData uri="http://schemas.openxmlformats.org/drawingml/2006/table">
            <a:tbl>
              <a:tblPr/>
              <a:tblGrid>
                <a:gridCol w="1243012">
                  <a:extLst>
                    <a:ext uri="{9D8B030D-6E8A-4147-A177-3AD203B41FA5}">
                      <a16:colId xmlns:a16="http://schemas.microsoft.com/office/drawing/2014/main" val="1332364210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908239884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1705919655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795041105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1369135891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3407699141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3143778485"/>
                    </a:ext>
                  </a:extLst>
                </a:gridCol>
                <a:gridCol w="1243012">
                  <a:extLst>
                    <a:ext uri="{9D8B030D-6E8A-4147-A177-3AD203B41FA5}">
                      <a16:colId xmlns:a16="http://schemas.microsoft.com/office/drawing/2014/main" val="2818187495"/>
                    </a:ext>
                  </a:extLst>
                </a:gridCol>
              </a:tblGrid>
              <a:tr h="472637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Model Name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Report Number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Issue Date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Contact Nuber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Country of Origin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Lab Name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Manufacturer Name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Download Test Report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19781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458703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9196154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9923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8728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629041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52824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8192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00780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051457-9893-5E49-1D78-971286D81386}"/>
              </a:ext>
            </a:extLst>
          </p:cNvPr>
          <p:cNvSpPr txBox="1"/>
          <p:nvPr/>
        </p:nvSpPr>
        <p:spPr>
          <a:xfrm>
            <a:off x="5569029" y="2678070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Stock List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B54D52-EBE9-238C-BA7A-64B831AA6AD5}"/>
              </a:ext>
            </a:extLst>
          </p:cNvPr>
          <p:cNvSpPr txBox="1"/>
          <p:nvPr/>
        </p:nvSpPr>
        <p:spPr>
          <a:xfrm>
            <a:off x="4705590" y="2266141"/>
            <a:ext cx="278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AIR CONDITIONER PRODUCT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0299F-CA5D-D575-9A04-6BA41E4AE168}"/>
              </a:ext>
            </a:extLst>
          </p:cNvPr>
          <p:cNvSpPr txBox="1"/>
          <p:nvPr/>
        </p:nvSpPr>
        <p:spPr>
          <a:xfrm>
            <a:off x="10016224" y="2446991"/>
            <a:ext cx="1045479" cy="2616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ABCD@lge.com</a:t>
            </a:r>
            <a:endParaRPr lang="en-AE" sz="1100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990C4411-B80B-5C37-4DB4-EF15B1E944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0376" y="2324779"/>
            <a:ext cx="357963" cy="357963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0C9EF69-0EC5-D87F-4FDD-E21879CDB01E}"/>
              </a:ext>
            </a:extLst>
          </p:cNvPr>
          <p:cNvGrpSpPr/>
          <p:nvPr/>
        </p:nvGrpSpPr>
        <p:grpSpPr>
          <a:xfrm>
            <a:off x="1257301" y="3159183"/>
            <a:ext cx="6281555" cy="768927"/>
            <a:chOff x="1257301" y="3159183"/>
            <a:chExt cx="6281555" cy="76892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3A47B7F-D6BE-785D-844F-F24897A0B707}"/>
                </a:ext>
              </a:extLst>
            </p:cNvPr>
            <p:cNvSpPr/>
            <p:nvPr/>
          </p:nvSpPr>
          <p:spPr>
            <a:xfrm>
              <a:off x="1656115" y="3159183"/>
              <a:ext cx="1371599" cy="337088"/>
            </a:xfrm>
            <a:prstGeom prst="roundRect">
              <a:avLst>
                <a:gd name="adj" fmla="val 16664"/>
              </a:avLst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>
                  <a:latin typeface="LG Smart Light" panose="020B0302040402060203" pitchFamily="34" charset="0"/>
                </a:rPr>
                <a:t>Model Name</a:t>
              </a:r>
              <a:endParaRPr lang="en-AE" sz="1200" dirty="0">
                <a:latin typeface="LG Smart Light" panose="020B0302040402060203" pitchFamily="34" charset="0"/>
              </a:endParaRPr>
            </a:p>
          </p:txBody>
        </p:sp>
        <p:pic>
          <p:nvPicPr>
            <p:cNvPr id="17" name="Graphic 16" descr="Magnifying glass outline">
              <a:extLst>
                <a:ext uri="{FF2B5EF4-FFF2-40B4-BE49-F238E27FC236}">
                  <a16:creationId xmlns:a16="http://schemas.microsoft.com/office/drawing/2014/main" id="{2481BB93-CBC2-E730-366B-502CD56F6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7301" y="3172770"/>
              <a:ext cx="309914" cy="309914"/>
            </a:xfrm>
            <a:prstGeom prst="rect">
              <a:avLst/>
            </a:prstGeom>
          </p:spPr>
        </p:pic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0F3F702-53DA-CA3C-96DF-E525CCA1ABD8}"/>
                </a:ext>
              </a:extLst>
            </p:cNvPr>
            <p:cNvSpPr/>
            <p:nvPr/>
          </p:nvSpPr>
          <p:spPr>
            <a:xfrm>
              <a:off x="3159829" y="3159183"/>
              <a:ext cx="1371599" cy="337088"/>
            </a:xfrm>
            <a:prstGeom prst="roundRect">
              <a:avLst>
                <a:gd name="adj" fmla="val 16664"/>
              </a:avLst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>
                  <a:latin typeface="LG Smart Light" panose="020B0302040402060203" pitchFamily="34" charset="0"/>
                </a:rPr>
                <a:t>Issue Date</a:t>
              </a:r>
              <a:endParaRPr lang="en-AE" sz="1200" dirty="0">
                <a:latin typeface="LG Smart Light" panose="020B0302040402060203" pitchFamily="34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038E0AF-9B1B-525A-9810-266B3C8B69A4}"/>
                </a:ext>
              </a:extLst>
            </p:cNvPr>
            <p:cNvSpPr/>
            <p:nvPr/>
          </p:nvSpPr>
          <p:spPr>
            <a:xfrm>
              <a:off x="4663543" y="3159183"/>
              <a:ext cx="1371599" cy="337088"/>
            </a:xfrm>
            <a:prstGeom prst="roundRect">
              <a:avLst>
                <a:gd name="adj" fmla="val 16664"/>
              </a:avLst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>
                  <a:latin typeface="LG Smart Light" panose="020B0302040402060203" pitchFamily="34" charset="0"/>
                </a:rPr>
                <a:t>Manufacturer Name</a:t>
              </a:r>
              <a:endParaRPr lang="en-AE" sz="1200" dirty="0">
                <a:latin typeface="LG Smart Light" panose="020B030204040206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DACCFBD-8F3A-A363-15A7-FAD9C46C136C}"/>
                </a:ext>
              </a:extLst>
            </p:cNvPr>
            <p:cNvSpPr/>
            <p:nvPr/>
          </p:nvSpPr>
          <p:spPr>
            <a:xfrm>
              <a:off x="6167257" y="3576561"/>
              <a:ext cx="1371599" cy="337088"/>
            </a:xfrm>
            <a:prstGeom prst="roundRect">
              <a:avLst>
                <a:gd name="adj" fmla="val 16664"/>
              </a:avLst>
            </a:prstGeom>
            <a:solidFill>
              <a:srgbClr val="A5003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lt1"/>
                  </a:solidFill>
                  <a:latin typeface="LG Smart Light" panose="020B0302040402060203" pitchFamily="34" charset="0"/>
                </a:rPr>
                <a:t>SEARCH</a:t>
              </a:r>
              <a:endParaRPr lang="en-AE" sz="1400" b="1" dirty="0">
                <a:solidFill>
                  <a:schemeClr val="lt1"/>
                </a:solidFill>
                <a:latin typeface="LG Smart Light" panose="020B0302040402060203" pitchFamily="34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FED5D02-7384-5E62-F2F7-3664C31E82C1}"/>
                </a:ext>
              </a:extLst>
            </p:cNvPr>
            <p:cNvSpPr/>
            <p:nvPr/>
          </p:nvSpPr>
          <p:spPr>
            <a:xfrm>
              <a:off x="3159829" y="3591022"/>
              <a:ext cx="1371599" cy="337088"/>
            </a:xfrm>
            <a:prstGeom prst="roundRect">
              <a:avLst>
                <a:gd name="adj" fmla="val 16664"/>
              </a:avLst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AE" sz="1200" dirty="0">
                <a:latin typeface="LG Smart Light" panose="020B030204040206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14EEA1-0909-70F3-C97F-83B8AB862C1E}"/>
                </a:ext>
              </a:extLst>
            </p:cNvPr>
            <p:cNvSpPr txBox="1"/>
            <p:nvPr/>
          </p:nvSpPr>
          <p:spPr>
            <a:xfrm>
              <a:off x="2545979" y="3621066"/>
              <a:ext cx="4817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LG Smart Light" panose="020B0302040402060203" pitchFamily="34" charset="0"/>
                </a:rPr>
                <a:t>DATE</a:t>
              </a:r>
              <a:endParaRPr lang="en-AE" sz="1200" dirty="0">
                <a:solidFill>
                  <a:schemeClr val="dk1"/>
                </a:solidFill>
                <a:latin typeface="LG Smart Light" panose="020B0302040402060203" pitchFamily="34" charset="0"/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0DB014B-3000-31E6-77E1-E61A074042B4}"/>
                </a:ext>
              </a:extLst>
            </p:cNvPr>
            <p:cNvSpPr/>
            <p:nvPr/>
          </p:nvSpPr>
          <p:spPr>
            <a:xfrm>
              <a:off x="4663543" y="3591022"/>
              <a:ext cx="1371599" cy="337088"/>
            </a:xfrm>
            <a:prstGeom prst="roundRect">
              <a:avLst>
                <a:gd name="adj" fmla="val 16664"/>
              </a:avLst>
            </a:pr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AE" sz="1200" dirty="0">
                <a:latin typeface="LG Smart Light" panose="020B030204040206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7A089F9-7B45-82A7-6FEF-562003439035}"/>
                </a:ext>
              </a:extLst>
            </p:cNvPr>
            <p:cNvSpPr txBox="1"/>
            <p:nvPr/>
          </p:nvSpPr>
          <p:spPr>
            <a:xfrm rot="5400000">
              <a:off x="4194316" y="3568365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LG Smart Light" panose="020B0302040402060203" pitchFamily="34" charset="0"/>
                </a:rPr>
                <a:t>&gt;</a:t>
              </a:r>
              <a:endParaRPr lang="en-AE" b="1" dirty="0">
                <a:latin typeface="LG Smart Light" panose="020B030204040206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14CBC1-3F1C-A545-6A1C-81F228987570}"/>
                </a:ext>
              </a:extLst>
            </p:cNvPr>
            <p:cNvSpPr txBox="1"/>
            <p:nvPr/>
          </p:nvSpPr>
          <p:spPr>
            <a:xfrm rot="5400000">
              <a:off x="5698030" y="3568365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LG Smart Light" panose="020B0302040402060203" pitchFamily="34" charset="0"/>
                </a:rPr>
                <a:t>&gt;</a:t>
              </a:r>
              <a:endParaRPr lang="en-AE" b="1" dirty="0">
                <a:latin typeface="LG Smart Light" panose="020B030204040206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2E88DEF-18ED-AC11-3496-3E974108A69E}"/>
              </a:ext>
            </a:extLst>
          </p:cNvPr>
          <p:cNvSpPr txBox="1"/>
          <p:nvPr/>
        </p:nvSpPr>
        <p:spPr>
          <a:xfrm>
            <a:off x="10530309" y="3965001"/>
            <a:ext cx="8883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 b="1" dirty="0">
                <a:solidFill>
                  <a:srgbClr val="00B050"/>
                </a:solidFill>
                <a:latin typeface="LG Smart Light" panose="020B0302040402060203" pitchFamily="34" charset="0"/>
              </a:rPr>
              <a:t>PDF REPORT</a:t>
            </a:r>
            <a:endParaRPr lang="en-AE" sz="1100" b="1" dirty="0">
              <a:solidFill>
                <a:srgbClr val="00B050"/>
              </a:solidFill>
              <a:latin typeface="LG Smart Light" panose="020B030204040206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114FE-6BCE-F6AC-7212-C9E007AA1326}"/>
              </a:ext>
            </a:extLst>
          </p:cNvPr>
          <p:cNvSpPr txBox="1"/>
          <p:nvPr/>
        </p:nvSpPr>
        <p:spPr>
          <a:xfrm>
            <a:off x="10406110" y="2735843"/>
            <a:ext cx="566181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sz="900" b="1" dirty="0">
                <a:solidFill>
                  <a:srgbClr val="A50034"/>
                </a:solidFill>
                <a:latin typeface="LG Smart Light" panose="020B0302040402060203" pitchFamily="34" charset="0"/>
              </a:rPr>
              <a:t>LOGOUT</a:t>
            </a:r>
            <a:endParaRPr lang="en-AE" sz="900" b="1" dirty="0">
              <a:solidFill>
                <a:srgbClr val="A50034"/>
              </a:solidFill>
              <a:latin typeface="LG Smart Light" panose="020B03020404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41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3304889" y="2076239"/>
            <a:ext cx="5582220" cy="3550623"/>
          </a:xfrm>
          <a:prstGeom prst="roundRect">
            <a:avLst>
              <a:gd name="adj" fmla="val 7544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</a:t>
            </a:r>
            <a:r>
              <a:rPr lang="en-US" dirty="0">
                <a:solidFill>
                  <a:srgbClr val="C00000"/>
                </a:solidFill>
                <a:latin typeface="Arial Nova" panose="020B0504020202020204" pitchFamily="34" charset="0"/>
              </a:rPr>
              <a:t>Back End </a:t>
            </a:r>
            <a:r>
              <a:rPr lang="en-US" dirty="0">
                <a:latin typeface="Arial Nova" panose="020B0504020202020204" pitchFamily="34" charset="0"/>
              </a:rPr>
              <a:t>Desktop</a:t>
            </a:r>
            <a:endParaRPr lang="en-AE" dirty="0">
              <a:latin typeface="Arial Nova" panose="020B050402020202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20A2D9-BE42-A3DE-C91E-552348D6D9DC}"/>
              </a:ext>
            </a:extLst>
          </p:cNvPr>
          <p:cNvGrpSpPr/>
          <p:nvPr/>
        </p:nvGrpSpPr>
        <p:grpSpPr>
          <a:xfrm>
            <a:off x="4561699" y="3020294"/>
            <a:ext cx="3068600" cy="1385085"/>
            <a:chOff x="4683318" y="3655914"/>
            <a:chExt cx="3068600" cy="138508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2333D8-DF66-86B1-EF00-EEC2629128AA}"/>
                </a:ext>
              </a:extLst>
            </p:cNvPr>
            <p:cNvSpPr txBox="1"/>
            <p:nvPr/>
          </p:nvSpPr>
          <p:spPr>
            <a:xfrm>
              <a:off x="4951924" y="3655914"/>
              <a:ext cx="5806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G Smart Light" panose="020B0302040402060203" pitchFamily="34" charset="0"/>
                </a:rPr>
                <a:t>Email ID</a:t>
              </a:r>
              <a:endParaRPr lang="en-AE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B599B5F-7D86-7DB3-39D3-6A23ACAC151C}"/>
                </a:ext>
              </a:extLst>
            </p:cNvPr>
            <p:cNvSpPr txBox="1"/>
            <p:nvPr/>
          </p:nvSpPr>
          <p:spPr>
            <a:xfrm>
              <a:off x="4951924" y="4487171"/>
              <a:ext cx="6575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G Smart Light" panose="020B0302040402060203" pitchFamily="34" charset="0"/>
                </a:rPr>
                <a:t>Password</a:t>
              </a:r>
              <a:endParaRPr lang="en-AE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endParaRPr>
            </a:p>
          </p:txBody>
        </p:sp>
        <p:pic>
          <p:nvPicPr>
            <p:cNvPr id="11" name="Graphic 10" descr="User with solid fill">
              <a:extLst>
                <a:ext uri="{FF2B5EF4-FFF2-40B4-BE49-F238E27FC236}">
                  <a16:creationId xmlns:a16="http://schemas.microsoft.com/office/drawing/2014/main" id="{0A24F72E-811A-C53C-F174-48C2080CA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83318" y="3830496"/>
              <a:ext cx="357963" cy="357963"/>
            </a:xfrm>
            <a:prstGeom prst="rect">
              <a:avLst/>
            </a:prstGeom>
          </p:spPr>
        </p:pic>
        <p:pic>
          <p:nvPicPr>
            <p:cNvPr id="13" name="Graphic 12" descr="Key with solid fill">
              <a:extLst>
                <a:ext uri="{FF2B5EF4-FFF2-40B4-BE49-F238E27FC236}">
                  <a16:creationId xmlns:a16="http://schemas.microsoft.com/office/drawing/2014/main" id="{0EF9D0A1-7722-1BFE-E944-D27987857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86300" y="4683036"/>
              <a:ext cx="357963" cy="35796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F529237-5CC8-1BE2-681A-E6202D2426F4}"/>
                </a:ext>
              </a:extLst>
            </p:cNvPr>
            <p:cNvSpPr/>
            <p:nvPr/>
          </p:nvSpPr>
          <p:spPr>
            <a:xfrm>
              <a:off x="5041282" y="3902135"/>
              <a:ext cx="2710636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rgbClr val="C00000"/>
                  </a:solidFill>
                  <a:latin typeface="LG Smart Light" panose="020B0302040402060203" pitchFamily="34" charset="0"/>
                </a:rPr>
                <a:t>ABCD@lge.com</a:t>
              </a:r>
              <a:endParaRPr lang="en-AE" sz="1100" b="1" dirty="0">
                <a:solidFill>
                  <a:srgbClr val="C00000"/>
                </a:solidFill>
                <a:latin typeface="LG Smart Light" panose="020B0302040402060203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D6DAAC-A908-8619-800F-1FD68FF4CDB0}"/>
                </a:ext>
              </a:extLst>
            </p:cNvPr>
            <p:cNvSpPr/>
            <p:nvPr/>
          </p:nvSpPr>
          <p:spPr>
            <a:xfrm>
              <a:off x="5041282" y="4738908"/>
              <a:ext cx="2710636" cy="246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>
              <a:innerShdw blurRad="63500" dist="508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b="1" dirty="0">
                  <a:solidFill>
                    <a:srgbClr val="C00000"/>
                  </a:solidFill>
                  <a:latin typeface="LG Smart Light" panose="020B0302040402060203" pitchFamily="34" charset="0"/>
                </a:rPr>
                <a:t>XXXXXXXXXXXXXX</a:t>
              </a:r>
              <a:endParaRPr lang="en-AE" sz="1100" b="1" dirty="0">
                <a:solidFill>
                  <a:srgbClr val="C00000"/>
                </a:solidFill>
                <a:latin typeface="LG Smart Light" panose="020B030204040206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1027D59-3A26-705B-47AB-7850B9353BD9}"/>
              </a:ext>
            </a:extLst>
          </p:cNvPr>
          <p:cNvSpPr txBox="1"/>
          <p:nvPr/>
        </p:nvSpPr>
        <p:spPr>
          <a:xfrm>
            <a:off x="5231952" y="2306631"/>
            <a:ext cx="1728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Admin Login Area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775165D-7E0B-E830-EDAA-33CD5D59D3A6}"/>
              </a:ext>
            </a:extLst>
          </p:cNvPr>
          <p:cNvSpPr/>
          <p:nvPr/>
        </p:nvSpPr>
        <p:spPr>
          <a:xfrm>
            <a:off x="5410913" y="4749180"/>
            <a:ext cx="1281987" cy="296222"/>
          </a:xfrm>
          <a:prstGeom prst="roundRect">
            <a:avLst>
              <a:gd name="adj" fmla="val 11112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LG Smart Light" panose="020B0302040402060203" pitchFamily="34" charset="0"/>
              </a:rPr>
              <a:t>LOGIN</a:t>
            </a:r>
            <a:endParaRPr lang="en-AE" sz="1400" b="1" dirty="0">
              <a:latin typeface="LG Smart Light" panose="020B03020404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87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838200" y="1679722"/>
            <a:ext cx="10515600" cy="4463756"/>
          </a:xfrm>
          <a:prstGeom prst="roundRect">
            <a:avLst>
              <a:gd name="adj" fmla="val 2536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</a:t>
            </a:r>
            <a:r>
              <a:rPr lang="en-US" dirty="0">
                <a:solidFill>
                  <a:srgbClr val="C00000"/>
                </a:solidFill>
                <a:latin typeface="Arial Nova" panose="020B0504020202020204" pitchFamily="34" charset="0"/>
              </a:rPr>
              <a:t>Back End </a:t>
            </a:r>
            <a:r>
              <a:rPr lang="en-US" dirty="0">
                <a:latin typeface="Arial Nova" panose="020B0504020202020204" pitchFamily="34" charset="0"/>
              </a:rPr>
              <a:t>Desktop</a:t>
            </a:r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B54D52-EBE9-238C-BA7A-64B831AA6AD5}"/>
              </a:ext>
            </a:extLst>
          </p:cNvPr>
          <p:cNvSpPr txBox="1"/>
          <p:nvPr/>
        </p:nvSpPr>
        <p:spPr>
          <a:xfrm>
            <a:off x="4933798" y="1704019"/>
            <a:ext cx="2324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2 options to upload data</a:t>
            </a:r>
          </a:p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To the Admin Panel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0299F-CA5D-D575-9A04-6BA41E4AE168}"/>
              </a:ext>
            </a:extLst>
          </p:cNvPr>
          <p:cNvSpPr txBox="1"/>
          <p:nvPr/>
        </p:nvSpPr>
        <p:spPr>
          <a:xfrm>
            <a:off x="10016224" y="1884869"/>
            <a:ext cx="1045479" cy="2616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ABCD@lge.com</a:t>
            </a:r>
            <a:endParaRPr lang="en-AE" sz="1100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990C4411-B80B-5C37-4DB4-EF15B1E944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80376" y="1762657"/>
            <a:ext cx="357963" cy="35796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47B7F-D6BE-785D-844F-F24897A0B707}"/>
              </a:ext>
            </a:extLst>
          </p:cNvPr>
          <p:cNvSpPr/>
          <p:nvPr/>
        </p:nvSpPr>
        <p:spPr>
          <a:xfrm>
            <a:off x="1656115" y="2597061"/>
            <a:ext cx="2258716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Model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F3F702-53DA-CA3C-96DF-E525CCA1ABD8}"/>
              </a:ext>
            </a:extLst>
          </p:cNvPr>
          <p:cNvSpPr/>
          <p:nvPr/>
        </p:nvSpPr>
        <p:spPr>
          <a:xfrm>
            <a:off x="1666513" y="3471197"/>
            <a:ext cx="2258716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Issue Date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038E0AF-9B1B-525A-9810-266B3C8B69A4}"/>
              </a:ext>
            </a:extLst>
          </p:cNvPr>
          <p:cNvSpPr/>
          <p:nvPr/>
        </p:nvSpPr>
        <p:spPr>
          <a:xfrm>
            <a:off x="1666513" y="4345333"/>
            <a:ext cx="2248318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Country of Origin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ACCFBD-8F3A-A363-15A7-FAD9C46C136C}"/>
              </a:ext>
            </a:extLst>
          </p:cNvPr>
          <p:cNvSpPr/>
          <p:nvPr/>
        </p:nvSpPr>
        <p:spPr>
          <a:xfrm>
            <a:off x="4261838" y="5233512"/>
            <a:ext cx="1371599" cy="337088"/>
          </a:xfrm>
          <a:prstGeom prst="roundRect">
            <a:avLst>
              <a:gd name="adj" fmla="val 16664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LG Smart Light" panose="020B0302040402060203" pitchFamily="34" charset="0"/>
              </a:rPr>
              <a:t>SUBMIT</a:t>
            </a:r>
            <a:endParaRPr lang="en-AE" sz="1400" b="1" dirty="0">
              <a:solidFill>
                <a:schemeClr val="lt1"/>
              </a:solidFill>
              <a:latin typeface="LG Smart Light" panose="020B030204040206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114FE-6BCE-F6AC-7212-C9E007AA1326}"/>
              </a:ext>
            </a:extLst>
          </p:cNvPr>
          <p:cNvSpPr txBox="1"/>
          <p:nvPr/>
        </p:nvSpPr>
        <p:spPr>
          <a:xfrm>
            <a:off x="10406110" y="2173721"/>
            <a:ext cx="566181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sz="900" b="1" dirty="0">
                <a:solidFill>
                  <a:srgbClr val="A50034"/>
                </a:solidFill>
                <a:latin typeface="LG Smart Light" panose="020B0302040402060203" pitchFamily="34" charset="0"/>
              </a:rPr>
              <a:t>LOGOUT</a:t>
            </a:r>
            <a:endParaRPr lang="en-AE" sz="900" b="1" dirty="0">
              <a:solidFill>
                <a:srgbClr val="A50034"/>
              </a:solidFill>
              <a:latin typeface="LG Smart Light" panose="020B030204040206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AD3F854-F01A-4BDB-0DA4-E10439EE5A88}"/>
              </a:ext>
            </a:extLst>
          </p:cNvPr>
          <p:cNvSpPr/>
          <p:nvPr/>
        </p:nvSpPr>
        <p:spPr>
          <a:xfrm>
            <a:off x="1666513" y="3034129"/>
            <a:ext cx="2258716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Report Number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EA32B0-B107-ED01-0F7A-C2DEDCB1D2B1}"/>
              </a:ext>
            </a:extLst>
          </p:cNvPr>
          <p:cNvSpPr/>
          <p:nvPr/>
        </p:nvSpPr>
        <p:spPr>
          <a:xfrm>
            <a:off x="1666513" y="3908265"/>
            <a:ext cx="2258716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Contact Number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2C465D-9964-E255-4FEB-D412B74DD85B}"/>
              </a:ext>
            </a:extLst>
          </p:cNvPr>
          <p:cNvSpPr/>
          <p:nvPr/>
        </p:nvSpPr>
        <p:spPr>
          <a:xfrm>
            <a:off x="1666513" y="4782401"/>
            <a:ext cx="2248318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Lab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3F7616-D292-CABA-48AB-0B638B195E5E}"/>
              </a:ext>
            </a:extLst>
          </p:cNvPr>
          <p:cNvSpPr/>
          <p:nvPr/>
        </p:nvSpPr>
        <p:spPr>
          <a:xfrm>
            <a:off x="1666513" y="5219471"/>
            <a:ext cx="2248318" cy="337088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Manufacturer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995E68-3BCD-82F8-74C8-41C101AFBB5A}"/>
              </a:ext>
            </a:extLst>
          </p:cNvPr>
          <p:cNvSpPr/>
          <p:nvPr/>
        </p:nvSpPr>
        <p:spPr>
          <a:xfrm>
            <a:off x="4261838" y="4318698"/>
            <a:ext cx="1371598" cy="769073"/>
          </a:xfrm>
          <a:prstGeom prst="roundRect">
            <a:avLst>
              <a:gd name="adj" fmla="val 16664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LG Smart Light" panose="020B0302040402060203" pitchFamily="34" charset="0"/>
              </a:rPr>
              <a:t>Upload PDF Report</a:t>
            </a:r>
            <a:endParaRPr lang="en-AE" sz="1400" b="1" dirty="0">
              <a:latin typeface="LG Smart Light" panose="020B0302040402060203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D0635F-FBE6-4839-A757-8769B72F4ACE}"/>
              </a:ext>
            </a:extLst>
          </p:cNvPr>
          <p:cNvCxnSpPr/>
          <p:nvPr/>
        </p:nvCxnSpPr>
        <p:spPr>
          <a:xfrm>
            <a:off x="6108700" y="2485280"/>
            <a:ext cx="0" cy="3217020"/>
          </a:xfrm>
          <a:prstGeom prst="line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BE19D6-A572-0DD3-F822-D0EF87819B3E}"/>
              </a:ext>
            </a:extLst>
          </p:cNvPr>
          <p:cNvSpPr/>
          <p:nvPr/>
        </p:nvSpPr>
        <p:spPr>
          <a:xfrm>
            <a:off x="7486416" y="3171053"/>
            <a:ext cx="2258716" cy="337088"/>
          </a:xfrm>
          <a:prstGeom prst="roundRect">
            <a:avLst>
              <a:gd name="adj" fmla="val 16664"/>
            </a:avLst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G Smart Light" panose="020B0302040402060203" pitchFamily="34" charset="0"/>
              </a:rPr>
              <a:t>EXCEL FILE TEMPLATE UPLOAD</a:t>
            </a:r>
            <a:endParaRPr lang="en-AE" sz="1200" dirty="0">
              <a:solidFill>
                <a:schemeClr val="bg1">
                  <a:lumMod val="7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58D4DA-5733-ADA3-6F19-83D1AD3ECF1B}"/>
              </a:ext>
            </a:extLst>
          </p:cNvPr>
          <p:cNvSpPr/>
          <p:nvPr/>
        </p:nvSpPr>
        <p:spPr>
          <a:xfrm>
            <a:off x="7929974" y="4309019"/>
            <a:ext cx="1371599" cy="337088"/>
          </a:xfrm>
          <a:prstGeom prst="roundRect">
            <a:avLst>
              <a:gd name="adj" fmla="val 16664"/>
            </a:avLst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LG Smart Light" panose="020B0302040402060203" pitchFamily="34" charset="0"/>
              </a:rPr>
              <a:t>EXECUTE UPLOADING</a:t>
            </a:r>
            <a:endParaRPr lang="en-AE" sz="1000" b="1" dirty="0">
              <a:solidFill>
                <a:schemeClr val="tx1">
                  <a:lumMod val="95000"/>
                  <a:lumOff val="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E20B0CE-7DF6-ADC9-F02C-092A9F72993D}"/>
              </a:ext>
            </a:extLst>
          </p:cNvPr>
          <p:cNvSpPr/>
          <p:nvPr/>
        </p:nvSpPr>
        <p:spPr>
          <a:xfrm>
            <a:off x="7708196" y="3640805"/>
            <a:ext cx="1815154" cy="337088"/>
          </a:xfrm>
          <a:prstGeom prst="roundRect">
            <a:avLst>
              <a:gd name="adj" fmla="val 16664"/>
            </a:avLst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LG Smart Light" panose="020B0302040402060203" pitchFamily="34" charset="0"/>
              </a:rPr>
              <a:t>UPLOAD PDF REPORT</a:t>
            </a:r>
            <a:endParaRPr lang="en-AE" sz="1200" dirty="0">
              <a:solidFill>
                <a:schemeClr val="bg1">
                  <a:lumMod val="7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FE14B8-8114-7A3F-8F65-49CC89E4CD4D}"/>
              </a:ext>
            </a:extLst>
          </p:cNvPr>
          <p:cNvSpPr txBox="1"/>
          <p:nvPr/>
        </p:nvSpPr>
        <p:spPr>
          <a:xfrm>
            <a:off x="1828170" y="2091797"/>
            <a:ext cx="193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LG Smart Light" panose="020B0302040402060203" pitchFamily="34" charset="0"/>
              </a:rPr>
              <a:t>Single Manual Entry</a:t>
            </a:r>
            <a:endParaRPr lang="en-AE" b="1" dirty="0">
              <a:solidFill>
                <a:srgbClr val="00B050"/>
              </a:solidFill>
              <a:latin typeface="LG Smart Light" panose="020B030204040206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2CD6E6-F266-21AA-917A-6D64FF3F9BF1}"/>
              </a:ext>
            </a:extLst>
          </p:cNvPr>
          <p:cNvSpPr txBox="1"/>
          <p:nvPr/>
        </p:nvSpPr>
        <p:spPr>
          <a:xfrm>
            <a:off x="7898142" y="2091797"/>
            <a:ext cx="1435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LG Smart Light" panose="020B0302040402060203" pitchFamily="34" charset="0"/>
              </a:rPr>
              <a:t>Multiple Entry</a:t>
            </a:r>
            <a:endParaRPr lang="en-AE" b="1" dirty="0">
              <a:solidFill>
                <a:srgbClr val="00B050"/>
              </a:solidFill>
              <a:latin typeface="LG Smart Light" panose="020B03020404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313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1043571" y="1603522"/>
            <a:ext cx="10104858" cy="4463756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</a:t>
            </a:r>
            <a:r>
              <a:rPr lang="en-US" dirty="0">
                <a:solidFill>
                  <a:srgbClr val="C00000"/>
                </a:solidFill>
                <a:latin typeface="Arial Nova" panose="020B0504020202020204" pitchFamily="34" charset="0"/>
              </a:rPr>
              <a:t>Back End </a:t>
            </a:r>
            <a:r>
              <a:rPr lang="en-US" dirty="0">
                <a:latin typeface="Arial Nova" panose="020B0504020202020204" pitchFamily="34" charset="0"/>
              </a:rPr>
              <a:t>Desktop</a:t>
            </a:r>
            <a:endParaRPr lang="en-AE" dirty="0">
              <a:latin typeface="Arial Nova" panose="020B05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77EB46-C2F5-8703-DE1B-4521A49DA0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822361"/>
              </p:ext>
            </p:extLst>
          </p:nvPr>
        </p:nvGraphicFramePr>
        <p:xfrm>
          <a:off x="1454313" y="3341406"/>
          <a:ext cx="9388474" cy="2520725"/>
        </p:xfrm>
        <a:graphic>
          <a:graphicData uri="http://schemas.openxmlformats.org/drawingml/2006/table">
            <a:tbl>
              <a:tblPr/>
              <a:tblGrid>
                <a:gridCol w="1094260">
                  <a:extLst>
                    <a:ext uri="{9D8B030D-6E8A-4147-A177-3AD203B41FA5}">
                      <a16:colId xmlns:a16="http://schemas.microsoft.com/office/drawing/2014/main" val="1332364210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908239884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170591965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79504110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1369135891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3407699141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314377848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2818187495"/>
                    </a:ext>
                  </a:extLst>
                </a:gridCol>
                <a:gridCol w="634394">
                  <a:extLst>
                    <a:ext uri="{9D8B030D-6E8A-4147-A177-3AD203B41FA5}">
                      <a16:colId xmlns:a16="http://schemas.microsoft.com/office/drawing/2014/main" val="4219174255"/>
                    </a:ext>
                  </a:extLst>
                </a:gridCol>
              </a:tblGrid>
              <a:tr h="472637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Model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Report Number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Issue Date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Contact Nuber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Country of Origin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Lab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Manufacturer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Download Test Report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Update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19781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458703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9196154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9923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38728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629041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452824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38192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0780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051457-9893-5E49-1D78-971286D81386}"/>
              </a:ext>
            </a:extLst>
          </p:cNvPr>
          <p:cNvSpPr txBox="1"/>
          <p:nvPr/>
        </p:nvSpPr>
        <p:spPr>
          <a:xfrm>
            <a:off x="5774400" y="2039748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Stock List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B54D52-EBE9-238C-BA7A-64B831AA6AD5}"/>
              </a:ext>
            </a:extLst>
          </p:cNvPr>
          <p:cNvSpPr txBox="1"/>
          <p:nvPr/>
        </p:nvSpPr>
        <p:spPr>
          <a:xfrm>
            <a:off x="4725280" y="1627819"/>
            <a:ext cx="3152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Admin Panel View of Stock details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0299F-CA5D-D575-9A04-6BA41E4AE168}"/>
              </a:ext>
            </a:extLst>
          </p:cNvPr>
          <p:cNvSpPr txBox="1"/>
          <p:nvPr/>
        </p:nvSpPr>
        <p:spPr>
          <a:xfrm>
            <a:off x="9810024" y="1808669"/>
            <a:ext cx="1045479" cy="2616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ABCD@lge.com</a:t>
            </a:r>
            <a:endParaRPr lang="en-AE" sz="1100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990C4411-B80B-5C37-4DB4-EF15B1E944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4176" y="1686457"/>
            <a:ext cx="357963" cy="35796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47B7F-D6BE-785D-844F-F24897A0B707}"/>
              </a:ext>
            </a:extLst>
          </p:cNvPr>
          <p:cNvSpPr/>
          <p:nvPr/>
        </p:nvSpPr>
        <p:spPr>
          <a:xfrm>
            <a:off x="1454313" y="2369874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Model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pic>
        <p:nvPicPr>
          <p:cNvPr id="17" name="Graphic 16" descr="Magnifying glass outline">
            <a:extLst>
              <a:ext uri="{FF2B5EF4-FFF2-40B4-BE49-F238E27FC236}">
                <a16:creationId xmlns:a16="http://schemas.microsoft.com/office/drawing/2014/main" id="{2481BB93-CBC2-E730-366B-502CD56F69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3890" y="2746756"/>
            <a:ext cx="309914" cy="30991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ACCFBD-8F3A-A363-15A7-FAD9C46C136C}"/>
              </a:ext>
            </a:extLst>
          </p:cNvPr>
          <p:cNvSpPr/>
          <p:nvPr/>
        </p:nvSpPr>
        <p:spPr>
          <a:xfrm>
            <a:off x="5537718" y="2769946"/>
            <a:ext cx="1371599" cy="337088"/>
          </a:xfrm>
          <a:prstGeom prst="roundRect">
            <a:avLst>
              <a:gd name="adj" fmla="val 16664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LG Smart Light" panose="020B0302040402060203" pitchFamily="34" charset="0"/>
              </a:rPr>
              <a:t>Search</a:t>
            </a:r>
            <a:endParaRPr lang="en-AE" sz="1400" b="1" dirty="0">
              <a:solidFill>
                <a:schemeClr val="lt1"/>
              </a:solidFill>
              <a:latin typeface="LG Smart Light" panose="020B030204040206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ED5D02-7384-5E62-F2F7-3664C31E82C1}"/>
              </a:ext>
            </a:extLst>
          </p:cNvPr>
          <p:cNvSpPr/>
          <p:nvPr/>
        </p:nvSpPr>
        <p:spPr>
          <a:xfrm>
            <a:off x="2004663" y="2760383"/>
            <a:ext cx="1371599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4EEA1-0909-70F3-C97F-83B8AB862C1E}"/>
              </a:ext>
            </a:extLst>
          </p:cNvPr>
          <p:cNvSpPr txBox="1"/>
          <p:nvPr/>
        </p:nvSpPr>
        <p:spPr>
          <a:xfrm>
            <a:off x="1390813" y="2790427"/>
            <a:ext cx="48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LG Smart Light" panose="020B0302040402060203" pitchFamily="34" charset="0"/>
              </a:rPr>
              <a:t>DATE</a:t>
            </a:r>
            <a:endParaRPr lang="en-AE" sz="1200" dirty="0">
              <a:solidFill>
                <a:schemeClr val="dk1"/>
              </a:solidFill>
              <a:latin typeface="LG Smart Light" panose="020B030204040206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DB014B-3000-31E6-77E1-E61A074042B4}"/>
              </a:ext>
            </a:extLst>
          </p:cNvPr>
          <p:cNvSpPr/>
          <p:nvPr/>
        </p:nvSpPr>
        <p:spPr>
          <a:xfrm>
            <a:off x="3508377" y="2760383"/>
            <a:ext cx="1371599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089F9-7B45-82A7-6FEF-562003439035}"/>
              </a:ext>
            </a:extLst>
          </p:cNvPr>
          <p:cNvSpPr txBox="1"/>
          <p:nvPr/>
        </p:nvSpPr>
        <p:spPr>
          <a:xfrm rot="5400000">
            <a:off x="3039150" y="273772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LG Smart Light" panose="020B0302040402060203" pitchFamily="34" charset="0"/>
              </a:rPr>
              <a:t>&gt;</a:t>
            </a:r>
            <a:endParaRPr lang="en-AE" b="1" dirty="0">
              <a:latin typeface="LG Smart Light" panose="020B030204040206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14CBC1-3F1C-A545-6A1C-81F228987570}"/>
              </a:ext>
            </a:extLst>
          </p:cNvPr>
          <p:cNvSpPr txBox="1"/>
          <p:nvPr/>
        </p:nvSpPr>
        <p:spPr>
          <a:xfrm rot="5400000">
            <a:off x="4542864" y="273772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LG Smart Light" panose="020B0302040402060203" pitchFamily="34" charset="0"/>
              </a:rPr>
              <a:t>&gt;</a:t>
            </a:r>
            <a:endParaRPr lang="en-AE" b="1" dirty="0">
              <a:latin typeface="LG Smart Light" panose="020B030204040206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114FE-6BCE-F6AC-7212-C9E007AA1326}"/>
              </a:ext>
            </a:extLst>
          </p:cNvPr>
          <p:cNvSpPr txBox="1"/>
          <p:nvPr/>
        </p:nvSpPr>
        <p:spPr>
          <a:xfrm>
            <a:off x="10199910" y="2097521"/>
            <a:ext cx="566181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sz="900" b="1" dirty="0">
                <a:solidFill>
                  <a:srgbClr val="A50034"/>
                </a:solidFill>
                <a:latin typeface="LG Smart Light" panose="020B0302040402060203" pitchFamily="34" charset="0"/>
              </a:rPr>
              <a:t>LOGOUT</a:t>
            </a:r>
            <a:endParaRPr lang="en-AE" sz="900" b="1" dirty="0">
              <a:solidFill>
                <a:srgbClr val="A50034"/>
              </a:solidFill>
              <a:latin typeface="LG Smart Light" panose="020B0302040402060203" pitchFamily="34" charset="0"/>
            </a:endParaRPr>
          </a:p>
        </p:txBody>
      </p:sp>
      <p:pic>
        <p:nvPicPr>
          <p:cNvPr id="15" name="Graphic 14" descr="Pencil with solid fill">
            <a:extLst>
              <a:ext uri="{FF2B5EF4-FFF2-40B4-BE49-F238E27FC236}">
                <a16:creationId xmlns:a16="http://schemas.microsoft.com/office/drawing/2014/main" id="{3A834AA2-3655-DBFE-EDFC-D3410D3A73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3835977"/>
            <a:ext cx="230260" cy="230260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B67789D8-E012-FA0D-4A97-8562858793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3835977"/>
            <a:ext cx="230260" cy="230260"/>
          </a:xfrm>
          <a:prstGeom prst="rect">
            <a:avLst/>
          </a:prstGeom>
        </p:spPr>
      </p:pic>
      <p:pic>
        <p:nvPicPr>
          <p:cNvPr id="30" name="Graphic 29" descr="Pencil with solid fill">
            <a:extLst>
              <a:ext uri="{FF2B5EF4-FFF2-40B4-BE49-F238E27FC236}">
                <a16:creationId xmlns:a16="http://schemas.microsoft.com/office/drawing/2014/main" id="{74AB59F3-661A-AF10-8253-9338408F1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069489"/>
            <a:ext cx="230260" cy="230260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5DDB6808-8FDA-D57F-F0F8-DE38B438A1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069489"/>
            <a:ext cx="230260" cy="230260"/>
          </a:xfrm>
          <a:prstGeom prst="rect">
            <a:avLst/>
          </a:prstGeom>
        </p:spPr>
      </p:pic>
      <p:pic>
        <p:nvPicPr>
          <p:cNvPr id="32" name="Graphic 31" descr="Pencil with solid fill">
            <a:extLst>
              <a:ext uri="{FF2B5EF4-FFF2-40B4-BE49-F238E27FC236}">
                <a16:creationId xmlns:a16="http://schemas.microsoft.com/office/drawing/2014/main" id="{A66231CC-AF5C-596F-CE54-501C96A129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332630"/>
            <a:ext cx="230260" cy="230260"/>
          </a:xfrm>
          <a:prstGeom prst="rect">
            <a:avLst/>
          </a:prstGeom>
        </p:spPr>
      </p:pic>
      <p:pic>
        <p:nvPicPr>
          <p:cNvPr id="33" name="Graphic 32" descr="Close with solid fill">
            <a:extLst>
              <a:ext uri="{FF2B5EF4-FFF2-40B4-BE49-F238E27FC236}">
                <a16:creationId xmlns:a16="http://schemas.microsoft.com/office/drawing/2014/main" id="{535811D0-9F9B-2022-4E7E-364578BF0E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332630"/>
            <a:ext cx="230260" cy="230260"/>
          </a:xfrm>
          <a:prstGeom prst="rect">
            <a:avLst/>
          </a:prstGeom>
        </p:spPr>
      </p:pic>
      <p:pic>
        <p:nvPicPr>
          <p:cNvPr id="34" name="Graphic 33" descr="Pencil with solid fill">
            <a:extLst>
              <a:ext uri="{FF2B5EF4-FFF2-40B4-BE49-F238E27FC236}">
                <a16:creationId xmlns:a16="http://schemas.microsoft.com/office/drawing/2014/main" id="{8E1D864C-AA59-D876-75CC-C1B6EEC98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595771"/>
            <a:ext cx="230260" cy="230260"/>
          </a:xfrm>
          <a:prstGeom prst="rect">
            <a:avLst/>
          </a:prstGeom>
        </p:spPr>
      </p:pic>
      <p:pic>
        <p:nvPicPr>
          <p:cNvPr id="35" name="Graphic 34" descr="Close with solid fill">
            <a:extLst>
              <a:ext uri="{FF2B5EF4-FFF2-40B4-BE49-F238E27FC236}">
                <a16:creationId xmlns:a16="http://schemas.microsoft.com/office/drawing/2014/main" id="{5044BE44-7931-5327-6E07-2AFD41E37A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595771"/>
            <a:ext cx="230260" cy="230260"/>
          </a:xfrm>
          <a:prstGeom prst="rect">
            <a:avLst/>
          </a:prstGeom>
        </p:spPr>
      </p:pic>
      <p:pic>
        <p:nvPicPr>
          <p:cNvPr id="36" name="Graphic 35" descr="Pencil with solid fill">
            <a:extLst>
              <a:ext uri="{FF2B5EF4-FFF2-40B4-BE49-F238E27FC236}">
                <a16:creationId xmlns:a16="http://schemas.microsoft.com/office/drawing/2014/main" id="{62BB01FA-7404-C975-A28A-0D506D493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829283"/>
            <a:ext cx="230260" cy="230260"/>
          </a:xfrm>
          <a:prstGeom prst="rect">
            <a:avLst/>
          </a:prstGeom>
        </p:spPr>
      </p:pic>
      <p:pic>
        <p:nvPicPr>
          <p:cNvPr id="37" name="Graphic 36" descr="Close with solid fill">
            <a:extLst>
              <a:ext uri="{FF2B5EF4-FFF2-40B4-BE49-F238E27FC236}">
                <a16:creationId xmlns:a16="http://schemas.microsoft.com/office/drawing/2014/main" id="{91830ECF-D802-AE5E-859A-D528BC2F38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829283"/>
            <a:ext cx="230260" cy="230260"/>
          </a:xfrm>
          <a:prstGeom prst="rect">
            <a:avLst/>
          </a:prstGeom>
        </p:spPr>
      </p:pic>
      <p:pic>
        <p:nvPicPr>
          <p:cNvPr id="38" name="Graphic 37" descr="Pencil with solid fill">
            <a:extLst>
              <a:ext uri="{FF2B5EF4-FFF2-40B4-BE49-F238E27FC236}">
                <a16:creationId xmlns:a16="http://schemas.microsoft.com/office/drawing/2014/main" id="{5045BF69-7797-C827-3F19-684911903C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092424"/>
            <a:ext cx="230260" cy="230260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F2E87D9C-1B95-E558-C2D5-5578235701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092424"/>
            <a:ext cx="230260" cy="230260"/>
          </a:xfrm>
          <a:prstGeom prst="rect">
            <a:avLst/>
          </a:prstGeom>
        </p:spPr>
      </p:pic>
      <p:pic>
        <p:nvPicPr>
          <p:cNvPr id="40" name="Graphic 39" descr="Pencil with solid fill">
            <a:extLst>
              <a:ext uri="{FF2B5EF4-FFF2-40B4-BE49-F238E27FC236}">
                <a16:creationId xmlns:a16="http://schemas.microsoft.com/office/drawing/2014/main" id="{6C64357B-B82C-A935-4D33-356C9ACB1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362147"/>
            <a:ext cx="230260" cy="230260"/>
          </a:xfrm>
          <a:prstGeom prst="rect">
            <a:avLst/>
          </a:prstGeom>
        </p:spPr>
      </p:pic>
      <p:pic>
        <p:nvPicPr>
          <p:cNvPr id="41" name="Graphic 40" descr="Close with solid fill">
            <a:extLst>
              <a:ext uri="{FF2B5EF4-FFF2-40B4-BE49-F238E27FC236}">
                <a16:creationId xmlns:a16="http://schemas.microsoft.com/office/drawing/2014/main" id="{ADC1F7C5-288D-3B94-36CC-680A5FAC76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362147"/>
            <a:ext cx="230260" cy="230260"/>
          </a:xfrm>
          <a:prstGeom prst="rect">
            <a:avLst/>
          </a:prstGeom>
        </p:spPr>
      </p:pic>
      <p:pic>
        <p:nvPicPr>
          <p:cNvPr id="42" name="Graphic 41" descr="Pencil with solid fill">
            <a:extLst>
              <a:ext uri="{FF2B5EF4-FFF2-40B4-BE49-F238E27FC236}">
                <a16:creationId xmlns:a16="http://schemas.microsoft.com/office/drawing/2014/main" id="{50A4320C-FECD-68E2-B91D-31AEFDBFC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610788"/>
            <a:ext cx="230260" cy="230260"/>
          </a:xfrm>
          <a:prstGeom prst="rect">
            <a:avLst/>
          </a:prstGeom>
        </p:spPr>
      </p:pic>
      <p:pic>
        <p:nvPicPr>
          <p:cNvPr id="43" name="Graphic 42" descr="Close with solid fill">
            <a:extLst>
              <a:ext uri="{FF2B5EF4-FFF2-40B4-BE49-F238E27FC236}">
                <a16:creationId xmlns:a16="http://schemas.microsoft.com/office/drawing/2014/main" id="{B5722558-51C5-AA17-4C23-E989DF838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610788"/>
            <a:ext cx="230260" cy="23026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85EF86D-4AC5-FDA1-BFD8-3966C4DA13A9}"/>
              </a:ext>
            </a:extLst>
          </p:cNvPr>
          <p:cNvSpPr txBox="1"/>
          <p:nvPr/>
        </p:nvSpPr>
        <p:spPr>
          <a:xfrm>
            <a:off x="3252959" y="3081822"/>
            <a:ext cx="1435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A50034"/>
                </a:solidFill>
                <a:latin typeface="Arial Nova" panose="020B0504020202020204" pitchFamily="34" charset="0"/>
              </a:rPr>
              <a:t>TBD</a:t>
            </a:r>
            <a:endParaRPr lang="en-AE" sz="1100" dirty="0">
              <a:solidFill>
                <a:srgbClr val="A50034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A67BA-2432-2A84-DE6A-E36FBEF04C26}"/>
              </a:ext>
            </a:extLst>
          </p:cNvPr>
          <p:cNvSpPr txBox="1"/>
          <p:nvPr/>
        </p:nvSpPr>
        <p:spPr>
          <a:xfrm>
            <a:off x="9725865" y="2931526"/>
            <a:ext cx="1075936" cy="2539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 Smart Light" panose="020B0302040402060203" pitchFamily="34" charset="0"/>
              </a:rPr>
              <a:t>EXPORT IN EXCEL</a:t>
            </a:r>
            <a:endParaRPr lang="en-AE" sz="105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G Smart Light" panose="020B03020404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1043571" y="1603522"/>
            <a:ext cx="10104858" cy="4463756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</a:t>
            </a:r>
            <a:r>
              <a:rPr lang="en-US" dirty="0">
                <a:solidFill>
                  <a:srgbClr val="C00000"/>
                </a:solidFill>
                <a:latin typeface="Arial Nova" panose="020B0504020202020204" pitchFamily="34" charset="0"/>
              </a:rPr>
              <a:t>Back End </a:t>
            </a:r>
            <a:r>
              <a:rPr lang="en-US" dirty="0">
                <a:latin typeface="Arial Nova" panose="020B0504020202020204" pitchFamily="34" charset="0"/>
              </a:rPr>
              <a:t>Desktop</a:t>
            </a:r>
            <a:endParaRPr lang="en-AE" dirty="0">
              <a:latin typeface="Arial Nova" panose="020B05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77EB46-C2F5-8703-DE1B-4521A49DA0CF}"/>
              </a:ext>
            </a:extLst>
          </p:cNvPr>
          <p:cNvGraphicFramePr>
            <a:graphicFrameLocks noGrp="1"/>
          </p:cNvGraphicFramePr>
          <p:nvPr/>
        </p:nvGraphicFramePr>
        <p:xfrm>
          <a:off x="1454313" y="3341406"/>
          <a:ext cx="9388474" cy="2520725"/>
        </p:xfrm>
        <a:graphic>
          <a:graphicData uri="http://schemas.openxmlformats.org/drawingml/2006/table">
            <a:tbl>
              <a:tblPr/>
              <a:tblGrid>
                <a:gridCol w="1094260">
                  <a:extLst>
                    <a:ext uri="{9D8B030D-6E8A-4147-A177-3AD203B41FA5}">
                      <a16:colId xmlns:a16="http://schemas.microsoft.com/office/drawing/2014/main" val="1332364210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908239884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170591965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79504110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1369135891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3407699141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314377848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2818187495"/>
                    </a:ext>
                  </a:extLst>
                </a:gridCol>
                <a:gridCol w="634394">
                  <a:extLst>
                    <a:ext uri="{9D8B030D-6E8A-4147-A177-3AD203B41FA5}">
                      <a16:colId xmlns:a16="http://schemas.microsoft.com/office/drawing/2014/main" val="4219174255"/>
                    </a:ext>
                  </a:extLst>
                </a:gridCol>
              </a:tblGrid>
              <a:tr h="472637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Model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Report Number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Issue Date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Contact Nuber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Country of Origin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Lab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Manufacturer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Download Test Report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Update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19781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458703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9196154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9923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38728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629041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452824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38192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0780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051457-9893-5E49-1D78-971286D81386}"/>
              </a:ext>
            </a:extLst>
          </p:cNvPr>
          <p:cNvSpPr txBox="1"/>
          <p:nvPr/>
        </p:nvSpPr>
        <p:spPr>
          <a:xfrm>
            <a:off x="5774400" y="2039748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Stock List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B54D52-EBE9-238C-BA7A-64B831AA6AD5}"/>
              </a:ext>
            </a:extLst>
          </p:cNvPr>
          <p:cNvSpPr txBox="1"/>
          <p:nvPr/>
        </p:nvSpPr>
        <p:spPr>
          <a:xfrm>
            <a:off x="4725269" y="1627819"/>
            <a:ext cx="3152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Admin Panel View of Stock details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0299F-CA5D-D575-9A04-6BA41E4AE168}"/>
              </a:ext>
            </a:extLst>
          </p:cNvPr>
          <p:cNvSpPr txBox="1"/>
          <p:nvPr/>
        </p:nvSpPr>
        <p:spPr>
          <a:xfrm>
            <a:off x="9810024" y="1808669"/>
            <a:ext cx="1045479" cy="2616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ABCD@lge.com</a:t>
            </a:r>
            <a:endParaRPr lang="en-AE" sz="1100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990C4411-B80B-5C37-4DB4-EF15B1E944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4176" y="1686457"/>
            <a:ext cx="357963" cy="35796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47B7F-D6BE-785D-844F-F24897A0B707}"/>
              </a:ext>
            </a:extLst>
          </p:cNvPr>
          <p:cNvSpPr/>
          <p:nvPr/>
        </p:nvSpPr>
        <p:spPr>
          <a:xfrm>
            <a:off x="1454313" y="2369874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Model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pic>
        <p:nvPicPr>
          <p:cNvPr id="17" name="Graphic 16" descr="Magnifying glass outline">
            <a:extLst>
              <a:ext uri="{FF2B5EF4-FFF2-40B4-BE49-F238E27FC236}">
                <a16:creationId xmlns:a16="http://schemas.microsoft.com/office/drawing/2014/main" id="{2481BB93-CBC2-E730-366B-502CD56F69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3890" y="2746756"/>
            <a:ext cx="309914" cy="309914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ACCFBD-8F3A-A363-15A7-FAD9C46C136C}"/>
              </a:ext>
            </a:extLst>
          </p:cNvPr>
          <p:cNvSpPr/>
          <p:nvPr/>
        </p:nvSpPr>
        <p:spPr>
          <a:xfrm>
            <a:off x="5537718" y="2769946"/>
            <a:ext cx="1371599" cy="337088"/>
          </a:xfrm>
          <a:prstGeom prst="roundRect">
            <a:avLst>
              <a:gd name="adj" fmla="val 16664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LG Smart Light" panose="020B0302040402060203" pitchFamily="34" charset="0"/>
              </a:rPr>
              <a:t>Search</a:t>
            </a:r>
            <a:endParaRPr lang="en-AE" sz="1400" b="1" dirty="0">
              <a:solidFill>
                <a:schemeClr val="lt1"/>
              </a:solidFill>
              <a:latin typeface="LG Smart Light" panose="020B030204040206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ED5D02-7384-5E62-F2F7-3664C31E82C1}"/>
              </a:ext>
            </a:extLst>
          </p:cNvPr>
          <p:cNvSpPr/>
          <p:nvPr/>
        </p:nvSpPr>
        <p:spPr>
          <a:xfrm>
            <a:off x="2004663" y="2760383"/>
            <a:ext cx="1371599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4EEA1-0909-70F3-C97F-83B8AB862C1E}"/>
              </a:ext>
            </a:extLst>
          </p:cNvPr>
          <p:cNvSpPr txBox="1"/>
          <p:nvPr/>
        </p:nvSpPr>
        <p:spPr>
          <a:xfrm>
            <a:off x="1390813" y="2790427"/>
            <a:ext cx="48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LG Smart Light" panose="020B0302040402060203" pitchFamily="34" charset="0"/>
              </a:rPr>
              <a:t>DATE</a:t>
            </a:r>
            <a:endParaRPr lang="en-AE" sz="1200" dirty="0">
              <a:solidFill>
                <a:schemeClr val="dk1"/>
              </a:solidFill>
              <a:latin typeface="LG Smart Light" panose="020B030204040206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DB014B-3000-31E6-77E1-E61A074042B4}"/>
              </a:ext>
            </a:extLst>
          </p:cNvPr>
          <p:cNvSpPr/>
          <p:nvPr/>
        </p:nvSpPr>
        <p:spPr>
          <a:xfrm>
            <a:off x="3508377" y="2760383"/>
            <a:ext cx="1371599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089F9-7B45-82A7-6FEF-562003439035}"/>
              </a:ext>
            </a:extLst>
          </p:cNvPr>
          <p:cNvSpPr txBox="1"/>
          <p:nvPr/>
        </p:nvSpPr>
        <p:spPr>
          <a:xfrm rot="5400000">
            <a:off x="3039150" y="273772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LG Smart Light" panose="020B0302040402060203" pitchFamily="34" charset="0"/>
              </a:rPr>
              <a:t>&gt;</a:t>
            </a:r>
            <a:endParaRPr lang="en-AE" b="1" dirty="0">
              <a:latin typeface="LG Smart Light" panose="020B0302040402060203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14CBC1-3F1C-A545-6A1C-81F228987570}"/>
              </a:ext>
            </a:extLst>
          </p:cNvPr>
          <p:cNvSpPr txBox="1"/>
          <p:nvPr/>
        </p:nvSpPr>
        <p:spPr>
          <a:xfrm rot="5400000">
            <a:off x="4542864" y="273772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LG Smart Light" panose="020B0302040402060203" pitchFamily="34" charset="0"/>
              </a:rPr>
              <a:t>&gt;</a:t>
            </a:r>
            <a:endParaRPr lang="en-AE" b="1" dirty="0">
              <a:latin typeface="LG Smart Light" panose="020B030204040206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114FE-6BCE-F6AC-7212-C9E007AA1326}"/>
              </a:ext>
            </a:extLst>
          </p:cNvPr>
          <p:cNvSpPr txBox="1"/>
          <p:nvPr/>
        </p:nvSpPr>
        <p:spPr>
          <a:xfrm>
            <a:off x="10199910" y="2097521"/>
            <a:ext cx="566181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sz="900" b="1" dirty="0">
                <a:solidFill>
                  <a:srgbClr val="A50034"/>
                </a:solidFill>
                <a:latin typeface="LG Smart Light" panose="020B0302040402060203" pitchFamily="34" charset="0"/>
              </a:rPr>
              <a:t>LOGOUT</a:t>
            </a:r>
            <a:endParaRPr lang="en-AE" sz="900" b="1" dirty="0">
              <a:solidFill>
                <a:srgbClr val="A50034"/>
              </a:solidFill>
              <a:latin typeface="LG Smart Light" panose="020B0302040402060203" pitchFamily="34" charset="0"/>
            </a:endParaRPr>
          </a:p>
        </p:txBody>
      </p:sp>
      <p:pic>
        <p:nvPicPr>
          <p:cNvPr id="15" name="Graphic 14" descr="Pencil with solid fill">
            <a:extLst>
              <a:ext uri="{FF2B5EF4-FFF2-40B4-BE49-F238E27FC236}">
                <a16:creationId xmlns:a16="http://schemas.microsoft.com/office/drawing/2014/main" id="{3A834AA2-3655-DBFE-EDFC-D3410D3A73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3835977"/>
            <a:ext cx="230260" cy="230260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B67789D8-E012-FA0D-4A97-8562858793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3835977"/>
            <a:ext cx="230260" cy="230260"/>
          </a:xfrm>
          <a:prstGeom prst="rect">
            <a:avLst/>
          </a:prstGeom>
        </p:spPr>
      </p:pic>
      <p:pic>
        <p:nvPicPr>
          <p:cNvPr id="30" name="Graphic 29" descr="Pencil with solid fill">
            <a:extLst>
              <a:ext uri="{FF2B5EF4-FFF2-40B4-BE49-F238E27FC236}">
                <a16:creationId xmlns:a16="http://schemas.microsoft.com/office/drawing/2014/main" id="{74AB59F3-661A-AF10-8253-9338408F1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069489"/>
            <a:ext cx="230260" cy="230260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5DDB6808-8FDA-D57F-F0F8-DE38B438A1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069489"/>
            <a:ext cx="230260" cy="230260"/>
          </a:xfrm>
          <a:prstGeom prst="rect">
            <a:avLst/>
          </a:prstGeom>
        </p:spPr>
      </p:pic>
      <p:pic>
        <p:nvPicPr>
          <p:cNvPr id="32" name="Graphic 31" descr="Pencil with solid fill">
            <a:extLst>
              <a:ext uri="{FF2B5EF4-FFF2-40B4-BE49-F238E27FC236}">
                <a16:creationId xmlns:a16="http://schemas.microsoft.com/office/drawing/2014/main" id="{A66231CC-AF5C-596F-CE54-501C96A129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332630"/>
            <a:ext cx="230260" cy="230260"/>
          </a:xfrm>
          <a:prstGeom prst="rect">
            <a:avLst/>
          </a:prstGeom>
        </p:spPr>
      </p:pic>
      <p:pic>
        <p:nvPicPr>
          <p:cNvPr id="33" name="Graphic 32" descr="Close with solid fill">
            <a:extLst>
              <a:ext uri="{FF2B5EF4-FFF2-40B4-BE49-F238E27FC236}">
                <a16:creationId xmlns:a16="http://schemas.microsoft.com/office/drawing/2014/main" id="{535811D0-9F9B-2022-4E7E-364578BF0E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332630"/>
            <a:ext cx="230260" cy="230260"/>
          </a:xfrm>
          <a:prstGeom prst="rect">
            <a:avLst/>
          </a:prstGeom>
        </p:spPr>
      </p:pic>
      <p:pic>
        <p:nvPicPr>
          <p:cNvPr id="34" name="Graphic 33" descr="Pencil with solid fill">
            <a:extLst>
              <a:ext uri="{FF2B5EF4-FFF2-40B4-BE49-F238E27FC236}">
                <a16:creationId xmlns:a16="http://schemas.microsoft.com/office/drawing/2014/main" id="{8E1D864C-AA59-D876-75CC-C1B6EEC98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595771"/>
            <a:ext cx="230260" cy="230260"/>
          </a:xfrm>
          <a:prstGeom prst="rect">
            <a:avLst/>
          </a:prstGeom>
        </p:spPr>
      </p:pic>
      <p:pic>
        <p:nvPicPr>
          <p:cNvPr id="35" name="Graphic 34" descr="Close with solid fill">
            <a:extLst>
              <a:ext uri="{FF2B5EF4-FFF2-40B4-BE49-F238E27FC236}">
                <a16:creationId xmlns:a16="http://schemas.microsoft.com/office/drawing/2014/main" id="{5044BE44-7931-5327-6E07-2AFD41E37A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595771"/>
            <a:ext cx="230260" cy="230260"/>
          </a:xfrm>
          <a:prstGeom prst="rect">
            <a:avLst/>
          </a:prstGeom>
        </p:spPr>
      </p:pic>
      <p:pic>
        <p:nvPicPr>
          <p:cNvPr id="36" name="Graphic 35" descr="Pencil with solid fill">
            <a:extLst>
              <a:ext uri="{FF2B5EF4-FFF2-40B4-BE49-F238E27FC236}">
                <a16:creationId xmlns:a16="http://schemas.microsoft.com/office/drawing/2014/main" id="{62BB01FA-7404-C975-A28A-0D506D493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829283"/>
            <a:ext cx="230260" cy="230260"/>
          </a:xfrm>
          <a:prstGeom prst="rect">
            <a:avLst/>
          </a:prstGeom>
        </p:spPr>
      </p:pic>
      <p:pic>
        <p:nvPicPr>
          <p:cNvPr id="37" name="Graphic 36" descr="Close with solid fill">
            <a:extLst>
              <a:ext uri="{FF2B5EF4-FFF2-40B4-BE49-F238E27FC236}">
                <a16:creationId xmlns:a16="http://schemas.microsoft.com/office/drawing/2014/main" id="{91830ECF-D802-AE5E-859A-D528BC2F38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829283"/>
            <a:ext cx="230260" cy="230260"/>
          </a:xfrm>
          <a:prstGeom prst="rect">
            <a:avLst/>
          </a:prstGeom>
        </p:spPr>
      </p:pic>
      <p:pic>
        <p:nvPicPr>
          <p:cNvPr id="38" name="Graphic 37" descr="Pencil with solid fill">
            <a:extLst>
              <a:ext uri="{FF2B5EF4-FFF2-40B4-BE49-F238E27FC236}">
                <a16:creationId xmlns:a16="http://schemas.microsoft.com/office/drawing/2014/main" id="{5045BF69-7797-C827-3F19-684911903C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092424"/>
            <a:ext cx="230260" cy="230260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F2E87D9C-1B95-E558-C2D5-5578235701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092424"/>
            <a:ext cx="230260" cy="230260"/>
          </a:xfrm>
          <a:prstGeom prst="rect">
            <a:avLst/>
          </a:prstGeom>
        </p:spPr>
      </p:pic>
      <p:pic>
        <p:nvPicPr>
          <p:cNvPr id="40" name="Graphic 39" descr="Pencil with solid fill">
            <a:extLst>
              <a:ext uri="{FF2B5EF4-FFF2-40B4-BE49-F238E27FC236}">
                <a16:creationId xmlns:a16="http://schemas.microsoft.com/office/drawing/2014/main" id="{6C64357B-B82C-A935-4D33-356C9ACB1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362147"/>
            <a:ext cx="230260" cy="230260"/>
          </a:xfrm>
          <a:prstGeom prst="rect">
            <a:avLst/>
          </a:prstGeom>
        </p:spPr>
      </p:pic>
      <p:pic>
        <p:nvPicPr>
          <p:cNvPr id="41" name="Graphic 40" descr="Close with solid fill">
            <a:extLst>
              <a:ext uri="{FF2B5EF4-FFF2-40B4-BE49-F238E27FC236}">
                <a16:creationId xmlns:a16="http://schemas.microsoft.com/office/drawing/2014/main" id="{ADC1F7C5-288D-3B94-36CC-680A5FAC76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362147"/>
            <a:ext cx="230260" cy="230260"/>
          </a:xfrm>
          <a:prstGeom prst="rect">
            <a:avLst/>
          </a:prstGeom>
        </p:spPr>
      </p:pic>
      <p:pic>
        <p:nvPicPr>
          <p:cNvPr id="42" name="Graphic 41" descr="Pencil with solid fill">
            <a:extLst>
              <a:ext uri="{FF2B5EF4-FFF2-40B4-BE49-F238E27FC236}">
                <a16:creationId xmlns:a16="http://schemas.microsoft.com/office/drawing/2014/main" id="{50A4320C-FECD-68E2-B91D-31AEFDBFC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610788"/>
            <a:ext cx="230260" cy="230260"/>
          </a:xfrm>
          <a:prstGeom prst="rect">
            <a:avLst/>
          </a:prstGeom>
        </p:spPr>
      </p:pic>
      <p:pic>
        <p:nvPicPr>
          <p:cNvPr id="43" name="Graphic 42" descr="Close with solid fill">
            <a:extLst>
              <a:ext uri="{FF2B5EF4-FFF2-40B4-BE49-F238E27FC236}">
                <a16:creationId xmlns:a16="http://schemas.microsoft.com/office/drawing/2014/main" id="{B5722558-51C5-AA17-4C23-E989DF838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610788"/>
            <a:ext cx="230260" cy="23026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123B90-09A5-6680-5723-2A7DDD03C1A2}"/>
              </a:ext>
            </a:extLst>
          </p:cNvPr>
          <p:cNvSpPr/>
          <p:nvPr/>
        </p:nvSpPr>
        <p:spPr>
          <a:xfrm>
            <a:off x="4269140" y="1878648"/>
            <a:ext cx="4546600" cy="3962400"/>
          </a:xfrm>
          <a:prstGeom prst="roundRect">
            <a:avLst>
              <a:gd name="adj" fmla="val 2536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DF0D8A-8692-3484-47B4-2CAE392CEE09}"/>
              </a:ext>
            </a:extLst>
          </p:cNvPr>
          <p:cNvSpPr/>
          <p:nvPr/>
        </p:nvSpPr>
        <p:spPr>
          <a:xfrm>
            <a:off x="4566355" y="2608809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Model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FB29BE-306A-7841-8141-37CA21BBBFE4}"/>
              </a:ext>
            </a:extLst>
          </p:cNvPr>
          <p:cNvSpPr/>
          <p:nvPr/>
        </p:nvSpPr>
        <p:spPr>
          <a:xfrm>
            <a:off x="4576753" y="3484009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Issue Date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3B02E7-51AD-70A0-3005-71432B24B32D}"/>
              </a:ext>
            </a:extLst>
          </p:cNvPr>
          <p:cNvSpPr/>
          <p:nvPr/>
        </p:nvSpPr>
        <p:spPr>
          <a:xfrm>
            <a:off x="4576753" y="4373632"/>
            <a:ext cx="2248318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Country of Origin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E9555F-0C0E-FC1A-970C-07C43F4EFD2E}"/>
              </a:ext>
            </a:extLst>
          </p:cNvPr>
          <p:cNvSpPr/>
          <p:nvPr/>
        </p:nvSpPr>
        <p:spPr>
          <a:xfrm>
            <a:off x="7172078" y="4820875"/>
            <a:ext cx="1371599" cy="337088"/>
          </a:xfrm>
          <a:prstGeom prst="roundRect">
            <a:avLst>
              <a:gd name="adj" fmla="val 16664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LG Smart Light" panose="020B0302040402060203" pitchFamily="34" charset="0"/>
              </a:rPr>
              <a:t>SUBMIT</a:t>
            </a:r>
            <a:endParaRPr lang="en-AE" sz="1400" b="1" dirty="0">
              <a:solidFill>
                <a:schemeClr val="lt1"/>
              </a:solidFill>
              <a:latin typeface="LG Smart Light" panose="020B030204040206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D192599-519B-C569-FA03-B7884AE3A752}"/>
              </a:ext>
            </a:extLst>
          </p:cNvPr>
          <p:cNvSpPr/>
          <p:nvPr/>
        </p:nvSpPr>
        <p:spPr>
          <a:xfrm>
            <a:off x="4576753" y="3048297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Report Number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35032E1-359C-953F-3630-FEB3D920562A}"/>
              </a:ext>
            </a:extLst>
          </p:cNvPr>
          <p:cNvSpPr/>
          <p:nvPr/>
        </p:nvSpPr>
        <p:spPr>
          <a:xfrm>
            <a:off x="4576753" y="3929136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Contact Number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6E88DA1-6503-5622-87DD-6B3031585D5F}"/>
              </a:ext>
            </a:extLst>
          </p:cNvPr>
          <p:cNvSpPr/>
          <p:nvPr/>
        </p:nvSpPr>
        <p:spPr>
          <a:xfrm>
            <a:off x="4576753" y="4828581"/>
            <a:ext cx="2248318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Lab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1A75BE-B315-FB5E-9D85-BAA7312A10A4}"/>
              </a:ext>
            </a:extLst>
          </p:cNvPr>
          <p:cNvSpPr/>
          <p:nvPr/>
        </p:nvSpPr>
        <p:spPr>
          <a:xfrm>
            <a:off x="4576753" y="5231219"/>
            <a:ext cx="2248318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Manufacturer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5DC365-4E79-477E-CADA-009A2168EA60}"/>
              </a:ext>
            </a:extLst>
          </p:cNvPr>
          <p:cNvSpPr/>
          <p:nvPr/>
        </p:nvSpPr>
        <p:spPr>
          <a:xfrm>
            <a:off x="7172078" y="4378351"/>
            <a:ext cx="1371598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Upload Report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C77027-349A-B7DA-BC09-CF079E5295A9}"/>
              </a:ext>
            </a:extLst>
          </p:cNvPr>
          <p:cNvSpPr txBox="1"/>
          <p:nvPr/>
        </p:nvSpPr>
        <p:spPr>
          <a:xfrm>
            <a:off x="5172021" y="2103545"/>
            <a:ext cx="106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LG Smart Light" panose="020B0302040402060203" pitchFamily="34" charset="0"/>
              </a:rPr>
              <a:t>Edit Entry</a:t>
            </a:r>
            <a:endParaRPr lang="en-AE" b="1" dirty="0">
              <a:solidFill>
                <a:srgbClr val="00B050"/>
              </a:solidFill>
              <a:latin typeface="LG Smart Light" panose="020B0302040402060203" pitchFamily="34" charset="0"/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6EA6EAB5-CC5C-9388-3277-25604676D41D}"/>
              </a:ext>
            </a:extLst>
          </p:cNvPr>
          <p:cNvSpPr/>
          <p:nvPr/>
        </p:nvSpPr>
        <p:spPr>
          <a:xfrm rot="5400000">
            <a:off x="7690393" y="3135197"/>
            <a:ext cx="3781352" cy="1505259"/>
          </a:xfrm>
          <a:prstGeom prst="triangle">
            <a:avLst>
              <a:gd name="adj" fmla="val 58107"/>
            </a:avLst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04B88E-B5C8-005C-128A-7508CB29FDAA}"/>
              </a:ext>
            </a:extLst>
          </p:cNvPr>
          <p:cNvSpPr txBox="1"/>
          <p:nvPr/>
        </p:nvSpPr>
        <p:spPr>
          <a:xfrm>
            <a:off x="4615939" y="1126151"/>
            <a:ext cx="3215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How to </a:t>
            </a:r>
            <a:r>
              <a:rPr lang="en-US" b="1" dirty="0">
                <a:solidFill>
                  <a:srgbClr val="A50034"/>
                </a:solidFill>
                <a:latin typeface="LG Smart Light" panose="020B0302040402060203" pitchFamily="34" charset="0"/>
              </a:rPr>
              <a:t>Edit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 the entries, if required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pic>
        <p:nvPicPr>
          <p:cNvPr id="48" name="Graphic 47" descr="Close with solid fill">
            <a:extLst>
              <a:ext uri="{FF2B5EF4-FFF2-40B4-BE49-F238E27FC236}">
                <a16:creationId xmlns:a16="http://schemas.microsoft.com/office/drawing/2014/main" id="{2D39EF1E-2DA2-E809-979F-DE64EAF223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03063" y="2000855"/>
            <a:ext cx="230260" cy="23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54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3814CBC1-3F1C-A545-6A1C-81F228987570}"/>
              </a:ext>
            </a:extLst>
          </p:cNvPr>
          <p:cNvSpPr txBox="1"/>
          <p:nvPr/>
        </p:nvSpPr>
        <p:spPr>
          <a:xfrm rot="5400000">
            <a:off x="4542864" y="273772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LG Smart Light" panose="020B0302040402060203" pitchFamily="34" charset="0"/>
              </a:rPr>
              <a:t>&gt;</a:t>
            </a:r>
            <a:endParaRPr lang="en-AE" b="1" dirty="0">
              <a:latin typeface="LG Smart Light" panose="020B0302040402060203" pitchFamily="34" charset="0"/>
            </a:endParaRPr>
          </a:p>
        </p:txBody>
      </p:sp>
      <p:pic>
        <p:nvPicPr>
          <p:cNvPr id="17" name="Graphic 16" descr="Magnifying glass outline">
            <a:extLst>
              <a:ext uri="{FF2B5EF4-FFF2-40B4-BE49-F238E27FC236}">
                <a16:creationId xmlns:a16="http://schemas.microsoft.com/office/drawing/2014/main" id="{2481BB93-CBC2-E730-366B-502CD56F69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3890" y="2746756"/>
            <a:ext cx="309914" cy="30991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741EFE-7173-0964-4E24-BC606E7EC64A}"/>
              </a:ext>
            </a:extLst>
          </p:cNvPr>
          <p:cNvSpPr/>
          <p:nvPr/>
        </p:nvSpPr>
        <p:spPr>
          <a:xfrm>
            <a:off x="1043571" y="1603522"/>
            <a:ext cx="10104858" cy="4463756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Illustration Sample – </a:t>
            </a:r>
            <a:r>
              <a:rPr lang="en-US" dirty="0">
                <a:solidFill>
                  <a:srgbClr val="C00000"/>
                </a:solidFill>
                <a:latin typeface="Arial Nova" panose="020B0504020202020204" pitchFamily="34" charset="0"/>
              </a:rPr>
              <a:t>Back End </a:t>
            </a:r>
            <a:r>
              <a:rPr lang="en-US" dirty="0">
                <a:latin typeface="Arial Nova" panose="020B0504020202020204" pitchFamily="34" charset="0"/>
              </a:rPr>
              <a:t>Desktop</a:t>
            </a:r>
            <a:endParaRPr lang="en-AE" dirty="0">
              <a:latin typeface="Arial Nova" panose="020B05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77EB46-C2F5-8703-DE1B-4521A49DA0CF}"/>
              </a:ext>
            </a:extLst>
          </p:cNvPr>
          <p:cNvGraphicFramePr>
            <a:graphicFrameLocks noGrp="1"/>
          </p:cNvGraphicFramePr>
          <p:nvPr/>
        </p:nvGraphicFramePr>
        <p:xfrm>
          <a:off x="1454313" y="3341406"/>
          <a:ext cx="9388474" cy="2520725"/>
        </p:xfrm>
        <a:graphic>
          <a:graphicData uri="http://schemas.openxmlformats.org/drawingml/2006/table">
            <a:tbl>
              <a:tblPr/>
              <a:tblGrid>
                <a:gridCol w="1094260">
                  <a:extLst>
                    <a:ext uri="{9D8B030D-6E8A-4147-A177-3AD203B41FA5}">
                      <a16:colId xmlns:a16="http://schemas.microsoft.com/office/drawing/2014/main" val="1332364210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908239884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170591965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79504110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1369135891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3407699141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3143778485"/>
                    </a:ext>
                  </a:extLst>
                </a:gridCol>
                <a:gridCol w="1094260">
                  <a:extLst>
                    <a:ext uri="{9D8B030D-6E8A-4147-A177-3AD203B41FA5}">
                      <a16:colId xmlns:a16="http://schemas.microsoft.com/office/drawing/2014/main" val="2818187495"/>
                    </a:ext>
                  </a:extLst>
                </a:gridCol>
                <a:gridCol w="634394">
                  <a:extLst>
                    <a:ext uri="{9D8B030D-6E8A-4147-A177-3AD203B41FA5}">
                      <a16:colId xmlns:a16="http://schemas.microsoft.com/office/drawing/2014/main" val="4219174255"/>
                    </a:ext>
                  </a:extLst>
                </a:gridCol>
              </a:tblGrid>
              <a:tr h="472637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Model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Report Number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Issue Date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Contact Nuber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Country of Origin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Lab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Manufacturer Name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Download Test Report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Update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19781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458703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9196154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9923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38728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33629041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4528246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ABNW****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3819285"/>
                  </a:ext>
                </a:extLst>
              </a:tr>
              <a:tr h="256011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S4NW****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200" b="0" i="0" u="none" strike="noStrike">
                          <a:solidFill>
                            <a:srgbClr val="000000"/>
                          </a:solidFill>
                          <a:effectLst/>
                          <a:latin typeface="LG Smart Light" panose="020B0302040402060203" pitchFamily="34" charset="0"/>
                        </a:rPr>
                        <a:t>********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100" b="0" i="0" u="sng" strike="noStrike" dirty="0">
                          <a:solidFill>
                            <a:srgbClr val="FF0000"/>
                          </a:solidFill>
                          <a:effectLst/>
                          <a:latin typeface="LG Smart Light" panose="020B0302040402060203" pitchFamily="34" charset="0"/>
                        </a:rPr>
                        <a:t>Click to Download</a:t>
                      </a: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100" b="0" i="0" u="sng" strike="noStrike" dirty="0">
                        <a:solidFill>
                          <a:srgbClr val="FF0000"/>
                        </a:solidFill>
                        <a:effectLst/>
                        <a:latin typeface="LG Smart Light" panose="020B0302040402060203" pitchFamily="34" charset="0"/>
                      </a:endParaRPr>
                    </a:p>
                  </a:txBody>
                  <a:tcPr marL="9224" marR="9224" marT="9224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00780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051457-9893-5E49-1D78-971286D81386}"/>
              </a:ext>
            </a:extLst>
          </p:cNvPr>
          <p:cNvSpPr txBox="1"/>
          <p:nvPr/>
        </p:nvSpPr>
        <p:spPr>
          <a:xfrm>
            <a:off x="5774400" y="2039748"/>
            <a:ext cx="1053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Stock List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B54D52-EBE9-238C-BA7A-64B831AA6AD5}"/>
              </a:ext>
            </a:extLst>
          </p:cNvPr>
          <p:cNvSpPr txBox="1"/>
          <p:nvPr/>
        </p:nvSpPr>
        <p:spPr>
          <a:xfrm>
            <a:off x="4725269" y="1627819"/>
            <a:ext cx="3152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Admin Panel View of Stock details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E0299F-CA5D-D575-9A04-6BA41E4AE168}"/>
              </a:ext>
            </a:extLst>
          </p:cNvPr>
          <p:cNvSpPr txBox="1"/>
          <p:nvPr/>
        </p:nvSpPr>
        <p:spPr>
          <a:xfrm>
            <a:off x="9810024" y="1808669"/>
            <a:ext cx="1045479" cy="2616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r"/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ABCD@lge.com</a:t>
            </a:r>
            <a:endParaRPr lang="en-AE" sz="1100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pic>
        <p:nvPicPr>
          <p:cNvPr id="27" name="Graphic 26" descr="User with solid fill">
            <a:extLst>
              <a:ext uri="{FF2B5EF4-FFF2-40B4-BE49-F238E27FC236}">
                <a16:creationId xmlns:a16="http://schemas.microsoft.com/office/drawing/2014/main" id="{990C4411-B80B-5C37-4DB4-EF15B1E944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4176" y="1686457"/>
            <a:ext cx="357963" cy="357963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A47B7F-D6BE-785D-844F-F24897A0B707}"/>
              </a:ext>
            </a:extLst>
          </p:cNvPr>
          <p:cNvSpPr/>
          <p:nvPr/>
        </p:nvSpPr>
        <p:spPr>
          <a:xfrm>
            <a:off x="1454313" y="2369874"/>
            <a:ext cx="2258716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dirty="0">
                <a:latin typeface="LG Smart Light" panose="020B0302040402060203" pitchFamily="34" charset="0"/>
              </a:rPr>
              <a:t>Model Name</a:t>
            </a:r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DACCFBD-8F3A-A363-15A7-FAD9C46C136C}"/>
              </a:ext>
            </a:extLst>
          </p:cNvPr>
          <p:cNvSpPr/>
          <p:nvPr/>
        </p:nvSpPr>
        <p:spPr>
          <a:xfrm>
            <a:off x="5537718" y="2769946"/>
            <a:ext cx="1371599" cy="337088"/>
          </a:xfrm>
          <a:prstGeom prst="roundRect">
            <a:avLst>
              <a:gd name="adj" fmla="val 16664"/>
            </a:avLst>
          </a:prstGeom>
          <a:solidFill>
            <a:srgbClr val="A50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LG Smart Light" panose="020B0302040402060203" pitchFamily="34" charset="0"/>
              </a:rPr>
              <a:t>Search</a:t>
            </a:r>
            <a:endParaRPr lang="en-AE" sz="1400" b="1" dirty="0">
              <a:solidFill>
                <a:schemeClr val="lt1"/>
              </a:solidFill>
              <a:latin typeface="LG Smart Light" panose="020B03020404020602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FED5D02-7384-5E62-F2F7-3664C31E82C1}"/>
              </a:ext>
            </a:extLst>
          </p:cNvPr>
          <p:cNvSpPr/>
          <p:nvPr/>
        </p:nvSpPr>
        <p:spPr>
          <a:xfrm>
            <a:off x="2004663" y="2760383"/>
            <a:ext cx="1371599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14EEA1-0909-70F3-C97F-83B8AB862C1E}"/>
              </a:ext>
            </a:extLst>
          </p:cNvPr>
          <p:cNvSpPr txBox="1"/>
          <p:nvPr/>
        </p:nvSpPr>
        <p:spPr>
          <a:xfrm>
            <a:off x="1390813" y="2790427"/>
            <a:ext cx="48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dk1"/>
                </a:solidFill>
                <a:latin typeface="LG Smart Light" panose="020B0302040402060203" pitchFamily="34" charset="0"/>
              </a:rPr>
              <a:t>DATE</a:t>
            </a:r>
            <a:endParaRPr lang="en-AE" sz="1200" dirty="0">
              <a:solidFill>
                <a:schemeClr val="dk1"/>
              </a:solidFill>
              <a:latin typeface="LG Smart Light" panose="020B030204040206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0DB014B-3000-31E6-77E1-E61A074042B4}"/>
              </a:ext>
            </a:extLst>
          </p:cNvPr>
          <p:cNvSpPr/>
          <p:nvPr/>
        </p:nvSpPr>
        <p:spPr>
          <a:xfrm>
            <a:off x="3508377" y="2760383"/>
            <a:ext cx="1371599" cy="337088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AE" sz="1200" dirty="0">
              <a:latin typeface="LG Smart Light" panose="020B030204040206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089F9-7B45-82A7-6FEF-562003439035}"/>
              </a:ext>
            </a:extLst>
          </p:cNvPr>
          <p:cNvSpPr txBox="1"/>
          <p:nvPr/>
        </p:nvSpPr>
        <p:spPr>
          <a:xfrm rot="5400000">
            <a:off x="3039150" y="2737726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LG Smart Light" panose="020B0302040402060203" pitchFamily="34" charset="0"/>
              </a:rPr>
              <a:t>&gt;</a:t>
            </a:r>
            <a:endParaRPr lang="en-AE" b="1" dirty="0">
              <a:latin typeface="LG Smart Light" panose="020B030204040206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114FE-6BCE-F6AC-7212-C9E007AA1326}"/>
              </a:ext>
            </a:extLst>
          </p:cNvPr>
          <p:cNvSpPr txBox="1"/>
          <p:nvPr/>
        </p:nvSpPr>
        <p:spPr>
          <a:xfrm>
            <a:off x="10199910" y="2097521"/>
            <a:ext cx="566181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/>
            <a:r>
              <a:rPr lang="en-US" sz="900" b="1" dirty="0">
                <a:solidFill>
                  <a:srgbClr val="A50034"/>
                </a:solidFill>
                <a:latin typeface="LG Smart Light" panose="020B0302040402060203" pitchFamily="34" charset="0"/>
              </a:rPr>
              <a:t>LOGOUT</a:t>
            </a:r>
            <a:endParaRPr lang="en-AE" sz="900" b="1" dirty="0">
              <a:solidFill>
                <a:srgbClr val="A50034"/>
              </a:solidFill>
              <a:latin typeface="LG Smart Light" panose="020B0302040402060203" pitchFamily="34" charset="0"/>
            </a:endParaRPr>
          </a:p>
        </p:txBody>
      </p:sp>
      <p:pic>
        <p:nvPicPr>
          <p:cNvPr id="15" name="Graphic 14" descr="Pencil with solid fill">
            <a:extLst>
              <a:ext uri="{FF2B5EF4-FFF2-40B4-BE49-F238E27FC236}">
                <a16:creationId xmlns:a16="http://schemas.microsoft.com/office/drawing/2014/main" id="{3A834AA2-3655-DBFE-EDFC-D3410D3A73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3835977"/>
            <a:ext cx="230260" cy="230260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B67789D8-E012-FA0D-4A97-8562858793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3835977"/>
            <a:ext cx="230260" cy="230260"/>
          </a:xfrm>
          <a:prstGeom prst="rect">
            <a:avLst/>
          </a:prstGeom>
        </p:spPr>
      </p:pic>
      <p:pic>
        <p:nvPicPr>
          <p:cNvPr id="30" name="Graphic 29" descr="Pencil with solid fill">
            <a:extLst>
              <a:ext uri="{FF2B5EF4-FFF2-40B4-BE49-F238E27FC236}">
                <a16:creationId xmlns:a16="http://schemas.microsoft.com/office/drawing/2014/main" id="{74AB59F3-661A-AF10-8253-9338408F11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069489"/>
            <a:ext cx="230260" cy="230260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5DDB6808-8FDA-D57F-F0F8-DE38B438A1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069489"/>
            <a:ext cx="230260" cy="230260"/>
          </a:xfrm>
          <a:prstGeom prst="rect">
            <a:avLst/>
          </a:prstGeom>
        </p:spPr>
      </p:pic>
      <p:pic>
        <p:nvPicPr>
          <p:cNvPr id="32" name="Graphic 31" descr="Pencil with solid fill">
            <a:extLst>
              <a:ext uri="{FF2B5EF4-FFF2-40B4-BE49-F238E27FC236}">
                <a16:creationId xmlns:a16="http://schemas.microsoft.com/office/drawing/2014/main" id="{A66231CC-AF5C-596F-CE54-501C96A129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332630"/>
            <a:ext cx="230260" cy="230260"/>
          </a:xfrm>
          <a:prstGeom prst="rect">
            <a:avLst/>
          </a:prstGeom>
        </p:spPr>
      </p:pic>
      <p:pic>
        <p:nvPicPr>
          <p:cNvPr id="33" name="Graphic 32" descr="Close with solid fill">
            <a:extLst>
              <a:ext uri="{FF2B5EF4-FFF2-40B4-BE49-F238E27FC236}">
                <a16:creationId xmlns:a16="http://schemas.microsoft.com/office/drawing/2014/main" id="{535811D0-9F9B-2022-4E7E-364578BF0E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332630"/>
            <a:ext cx="230260" cy="230260"/>
          </a:xfrm>
          <a:prstGeom prst="rect">
            <a:avLst/>
          </a:prstGeom>
        </p:spPr>
      </p:pic>
      <p:pic>
        <p:nvPicPr>
          <p:cNvPr id="34" name="Graphic 33" descr="Pencil with solid fill">
            <a:extLst>
              <a:ext uri="{FF2B5EF4-FFF2-40B4-BE49-F238E27FC236}">
                <a16:creationId xmlns:a16="http://schemas.microsoft.com/office/drawing/2014/main" id="{8E1D864C-AA59-D876-75CC-C1B6EEC98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595771"/>
            <a:ext cx="230260" cy="230260"/>
          </a:xfrm>
          <a:prstGeom prst="rect">
            <a:avLst/>
          </a:prstGeom>
        </p:spPr>
      </p:pic>
      <p:pic>
        <p:nvPicPr>
          <p:cNvPr id="35" name="Graphic 34" descr="Close with solid fill">
            <a:extLst>
              <a:ext uri="{FF2B5EF4-FFF2-40B4-BE49-F238E27FC236}">
                <a16:creationId xmlns:a16="http://schemas.microsoft.com/office/drawing/2014/main" id="{5044BE44-7931-5327-6E07-2AFD41E37A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595771"/>
            <a:ext cx="230260" cy="230260"/>
          </a:xfrm>
          <a:prstGeom prst="rect">
            <a:avLst/>
          </a:prstGeom>
        </p:spPr>
      </p:pic>
      <p:pic>
        <p:nvPicPr>
          <p:cNvPr id="36" name="Graphic 35" descr="Pencil with solid fill">
            <a:extLst>
              <a:ext uri="{FF2B5EF4-FFF2-40B4-BE49-F238E27FC236}">
                <a16:creationId xmlns:a16="http://schemas.microsoft.com/office/drawing/2014/main" id="{62BB01FA-7404-C975-A28A-0D506D4934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4829283"/>
            <a:ext cx="230260" cy="230260"/>
          </a:xfrm>
          <a:prstGeom prst="rect">
            <a:avLst/>
          </a:prstGeom>
        </p:spPr>
      </p:pic>
      <p:pic>
        <p:nvPicPr>
          <p:cNvPr id="37" name="Graphic 36" descr="Close with solid fill">
            <a:extLst>
              <a:ext uri="{FF2B5EF4-FFF2-40B4-BE49-F238E27FC236}">
                <a16:creationId xmlns:a16="http://schemas.microsoft.com/office/drawing/2014/main" id="{91830ECF-D802-AE5E-859A-D528BC2F38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4829283"/>
            <a:ext cx="230260" cy="230260"/>
          </a:xfrm>
          <a:prstGeom prst="rect">
            <a:avLst/>
          </a:prstGeom>
        </p:spPr>
      </p:pic>
      <p:pic>
        <p:nvPicPr>
          <p:cNvPr id="38" name="Graphic 37" descr="Pencil with solid fill">
            <a:extLst>
              <a:ext uri="{FF2B5EF4-FFF2-40B4-BE49-F238E27FC236}">
                <a16:creationId xmlns:a16="http://schemas.microsoft.com/office/drawing/2014/main" id="{5045BF69-7797-C827-3F19-684911903C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092424"/>
            <a:ext cx="230260" cy="230260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F2E87D9C-1B95-E558-C2D5-5578235701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092424"/>
            <a:ext cx="230260" cy="230260"/>
          </a:xfrm>
          <a:prstGeom prst="rect">
            <a:avLst/>
          </a:prstGeom>
        </p:spPr>
      </p:pic>
      <p:pic>
        <p:nvPicPr>
          <p:cNvPr id="40" name="Graphic 39" descr="Pencil with solid fill">
            <a:extLst>
              <a:ext uri="{FF2B5EF4-FFF2-40B4-BE49-F238E27FC236}">
                <a16:creationId xmlns:a16="http://schemas.microsoft.com/office/drawing/2014/main" id="{6C64357B-B82C-A935-4D33-356C9ACB13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362147"/>
            <a:ext cx="230260" cy="230260"/>
          </a:xfrm>
          <a:prstGeom prst="rect">
            <a:avLst/>
          </a:prstGeom>
        </p:spPr>
      </p:pic>
      <p:pic>
        <p:nvPicPr>
          <p:cNvPr id="41" name="Graphic 40" descr="Close with solid fill">
            <a:extLst>
              <a:ext uri="{FF2B5EF4-FFF2-40B4-BE49-F238E27FC236}">
                <a16:creationId xmlns:a16="http://schemas.microsoft.com/office/drawing/2014/main" id="{ADC1F7C5-288D-3B94-36CC-680A5FAC76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362147"/>
            <a:ext cx="230260" cy="230260"/>
          </a:xfrm>
          <a:prstGeom prst="rect">
            <a:avLst/>
          </a:prstGeom>
        </p:spPr>
      </p:pic>
      <p:pic>
        <p:nvPicPr>
          <p:cNvPr id="42" name="Graphic 41" descr="Pencil with solid fill">
            <a:extLst>
              <a:ext uri="{FF2B5EF4-FFF2-40B4-BE49-F238E27FC236}">
                <a16:creationId xmlns:a16="http://schemas.microsoft.com/office/drawing/2014/main" id="{50A4320C-FECD-68E2-B91D-31AEFDBFC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89719" y="5610788"/>
            <a:ext cx="230260" cy="230260"/>
          </a:xfrm>
          <a:prstGeom prst="rect">
            <a:avLst/>
          </a:prstGeom>
        </p:spPr>
      </p:pic>
      <p:pic>
        <p:nvPicPr>
          <p:cNvPr id="43" name="Graphic 42" descr="Close with solid fill">
            <a:extLst>
              <a:ext uri="{FF2B5EF4-FFF2-40B4-BE49-F238E27FC236}">
                <a16:creationId xmlns:a16="http://schemas.microsoft.com/office/drawing/2014/main" id="{B5722558-51C5-AA17-4C23-E989DF838E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5216" y="5610788"/>
            <a:ext cx="230260" cy="23026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123B90-09A5-6680-5723-2A7DDD03C1A2}"/>
              </a:ext>
            </a:extLst>
          </p:cNvPr>
          <p:cNvSpPr/>
          <p:nvPr/>
        </p:nvSpPr>
        <p:spPr>
          <a:xfrm>
            <a:off x="4264221" y="1865438"/>
            <a:ext cx="4546600" cy="3962400"/>
          </a:xfrm>
          <a:prstGeom prst="roundRect">
            <a:avLst>
              <a:gd name="adj" fmla="val 2536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E" dirty="0">
              <a:latin typeface="Arial Nova" panose="020B0504020202020204" pitchFamily="34" charset="0"/>
            </a:endParaRP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6EA6EAB5-CC5C-9388-3277-25604676D41D}"/>
              </a:ext>
            </a:extLst>
          </p:cNvPr>
          <p:cNvSpPr/>
          <p:nvPr/>
        </p:nvSpPr>
        <p:spPr>
          <a:xfrm rot="5400000">
            <a:off x="7801151" y="3024439"/>
            <a:ext cx="3781352" cy="1726776"/>
          </a:xfrm>
          <a:prstGeom prst="triangle">
            <a:avLst>
              <a:gd name="adj" fmla="val 58107"/>
            </a:avLst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04B88E-B5C8-005C-128A-7508CB29FDAA}"/>
              </a:ext>
            </a:extLst>
          </p:cNvPr>
          <p:cNvSpPr txBox="1"/>
          <p:nvPr/>
        </p:nvSpPr>
        <p:spPr>
          <a:xfrm>
            <a:off x="4503858" y="1126151"/>
            <a:ext cx="343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How to </a:t>
            </a:r>
            <a:r>
              <a:rPr lang="en-US" b="1" dirty="0">
                <a:solidFill>
                  <a:srgbClr val="A50034"/>
                </a:solidFill>
                <a:latin typeface="LG Smart Light" panose="020B0302040402060203" pitchFamily="34" charset="0"/>
              </a:rPr>
              <a:t>Delete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LG Smart Light" panose="020B0302040402060203" pitchFamily="34" charset="0"/>
              </a:rPr>
              <a:t> the entries, if required</a:t>
            </a:r>
            <a:endParaRPr lang="en-AE" b="1" dirty="0">
              <a:solidFill>
                <a:schemeClr val="tx1">
                  <a:lumMod val="65000"/>
                  <a:lumOff val="35000"/>
                </a:schemeClr>
              </a:solidFill>
              <a:latin typeface="LG Smart Light" panose="020B03020404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C77027-349A-B7DA-BC09-CF079E5295A9}"/>
              </a:ext>
            </a:extLst>
          </p:cNvPr>
          <p:cNvSpPr txBox="1"/>
          <p:nvPr/>
        </p:nvSpPr>
        <p:spPr>
          <a:xfrm>
            <a:off x="5868908" y="2103545"/>
            <a:ext cx="1337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LG Smart Light" panose="020B0302040402060203" pitchFamily="34" charset="0"/>
              </a:rPr>
              <a:t>Confirmation</a:t>
            </a:r>
            <a:endParaRPr lang="en-AE" b="1" dirty="0">
              <a:solidFill>
                <a:srgbClr val="00B050"/>
              </a:solidFill>
              <a:latin typeface="LG Smart Light" panose="020B0302040402060203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E9555F-0C0E-FC1A-970C-07C43F4EFD2E}"/>
              </a:ext>
            </a:extLst>
          </p:cNvPr>
          <p:cNvSpPr/>
          <p:nvPr/>
        </p:nvSpPr>
        <p:spPr>
          <a:xfrm>
            <a:off x="5182827" y="4319906"/>
            <a:ext cx="1371599" cy="337088"/>
          </a:xfrm>
          <a:prstGeom prst="roundRect">
            <a:avLst>
              <a:gd name="adj" fmla="val 16664"/>
            </a:avLst>
          </a:prstGeom>
          <a:solidFill>
            <a:srgbClr val="A50034"/>
          </a:solidFill>
          <a:ln w="19050">
            <a:solidFill>
              <a:srgbClr val="A500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lt1"/>
                </a:solidFill>
                <a:latin typeface="LG Smart Light" panose="020B0302040402060203" pitchFamily="34" charset="0"/>
              </a:rPr>
              <a:t>NO</a:t>
            </a:r>
            <a:endParaRPr lang="en-AE" sz="1400" b="1" dirty="0">
              <a:solidFill>
                <a:schemeClr val="lt1"/>
              </a:solidFill>
              <a:latin typeface="LG Smart Light" panose="020B0302040402060203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5DC365-4E79-477E-CADA-009A2168EA60}"/>
              </a:ext>
            </a:extLst>
          </p:cNvPr>
          <p:cNvSpPr/>
          <p:nvPr/>
        </p:nvSpPr>
        <p:spPr>
          <a:xfrm>
            <a:off x="4897593" y="2683060"/>
            <a:ext cx="3337631" cy="1531410"/>
          </a:xfrm>
          <a:prstGeom prst="roundRect">
            <a:avLst>
              <a:gd name="adj" fmla="val 16664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G Smart Light" panose="020B0302040402060203" pitchFamily="34" charset="0"/>
              </a:rPr>
              <a:t>Do you want to delete this Entry?</a:t>
            </a:r>
            <a:endParaRPr lang="en-AE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G Smart Light" panose="020B0302040402060203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49C79E5-1640-6FB9-BF51-DF64109D4255}"/>
              </a:ext>
            </a:extLst>
          </p:cNvPr>
          <p:cNvSpPr/>
          <p:nvPr/>
        </p:nvSpPr>
        <p:spPr>
          <a:xfrm>
            <a:off x="6609631" y="4319906"/>
            <a:ext cx="1371599" cy="337088"/>
          </a:xfrm>
          <a:prstGeom prst="roundRect">
            <a:avLst>
              <a:gd name="adj" fmla="val 16664"/>
            </a:avLst>
          </a:prstGeom>
          <a:noFill/>
          <a:ln w="38100">
            <a:solidFill>
              <a:srgbClr val="A500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LG Smart Light" panose="020B0302040402060203" pitchFamily="34" charset="0"/>
              </a:rPr>
              <a:t>YES</a:t>
            </a:r>
            <a:endParaRPr lang="en-AE" sz="1400" b="1" dirty="0">
              <a:solidFill>
                <a:schemeClr val="tx1"/>
              </a:solidFill>
              <a:latin typeface="LG Smart Light" panose="020B0302040402060203" pitchFamily="34" charset="0"/>
            </a:endParaRPr>
          </a:p>
        </p:txBody>
      </p:sp>
      <p:pic>
        <p:nvPicPr>
          <p:cNvPr id="48" name="Graphic 47" descr="Close with solid fill">
            <a:extLst>
              <a:ext uri="{FF2B5EF4-FFF2-40B4-BE49-F238E27FC236}">
                <a16:creationId xmlns:a16="http://schemas.microsoft.com/office/drawing/2014/main" id="{B54D90D8-03CE-9B28-5CBB-1603FB90A3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03063" y="2000855"/>
            <a:ext cx="230260" cy="23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30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E4CB3-75C6-31A6-0092-A7AFA8A0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Development Cost &amp; Timeline</a:t>
            </a:r>
            <a:endParaRPr lang="en-AE" dirty="0">
              <a:latin typeface="Arial Nova" panose="020B05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10C89A-030B-A1D1-B0D1-AFC244B7A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193866"/>
              </p:ext>
            </p:extLst>
          </p:nvPr>
        </p:nvGraphicFramePr>
        <p:xfrm>
          <a:off x="1885949" y="1613514"/>
          <a:ext cx="8580419" cy="3095626"/>
        </p:xfrm>
        <a:graphic>
          <a:graphicData uri="http://schemas.openxmlformats.org/drawingml/2006/table">
            <a:tbl>
              <a:tblPr/>
              <a:tblGrid>
                <a:gridCol w="1688205">
                  <a:extLst>
                    <a:ext uri="{9D8B030D-6E8A-4147-A177-3AD203B41FA5}">
                      <a16:colId xmlns:a16="http://schemas.microsoft.com/office/drawing/2014/main" val="2355554322"/>
                    </a:ext>
                  </a:extLst>
                </a:gridCol>
                <a:gridCol w="2450994">
                  <a:extLst>
                    <a:ext uri="{9D8B030D-6E8A-4147-A177-3AD203B41FA5}">
                      <a16:colId xmlns:a16="http://schemas.microsoft.com/office/drawing/2014/main" val="4253736067"/>
                    </a:ext>
                  </a:extLst>
                </a:gridCol>
                <a:gridCol w="778279">
                  <a:extLst>
                    <a:ext uri="{9D8B030D-6E8A-4147-A177-3AD203B41FA5}">
                      <a16:colId xmlns:a16="http://schemas.microsoft.com/office/drawing/2014/main" val="3370863222"/>
                    </a:ext>
                  </a:extLst>
                </a:gridCol>
                <a:gridCol w="1099656">
                  <a:extLst>
                    <a:ext uri="{9D8B030D-6E8A-4147-A177-3AD203B41FA5}">
                      <a16:colId xmlns:a16="http://schemas.microsoft.com/office/drawing/2014/main" val="910007411"/>
                    </a:ext>
                  </a:extLst>
                </a:gridCol>
                <a:gridCol w="681478">
                  <a:extLst>
                    <a:ext uri="{9D8B030D-6E8A-4147-A177-3AD203B41FA5}">
                      <a16:colId xmlns:a16="http://schemas.microsoft.com/office/drawing/2014/main" val="1014599420"/>
                    </a:ext>
                  </a:extLst>
                </a:gridCol>
                <a:gridCol w="1149993">
                  <a:extLst>
                    <a:ext uri="{9D8B030D-6E8A-4147-A177-3AD203B41FA5}">
                      <a16:colId xmlns:a16="http://schemas.microsoft.com/office/drawing/2014/main" val="3553780321"/>
                    </a:ext>
                  </a:extLst>
                </a:gridCol>
                <a:gridCol w="731814">
                  <a:extLst>
                    <a:ext uri="{9D8B030D-6E8A-4147-A177-3AD203B41FA5}">
                      <a16:colId xmlns:a16="http://schemas.microsoft.com/office/drawing/2014/main" val="2942215648"/>
                    </a:ext>
                  </a:extLst>
                </a:gridCol>
              </a:tblGrid>
              <a:tr h="248554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Roll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Position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Hourly 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Hrs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Days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711669"/>
                  </a:ext>
                </a:extLst>
              </a:tr>
              <a:tr h="47451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Development </a:t>
                      </a:r>
                    </a:p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Lead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Direction / Operation / Reporting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P(F)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54.40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50.00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2,720.00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988513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Create Back-End Layout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72.00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2,175.12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3450480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Manual Data Entry Fields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43.20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1,305.07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015745"/>
                  </a:ext>
                </a:extLst>
              </a:tr>
              <a:tr h="47451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Multiple Data Entry Template Creation (Data Upload)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84.00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2,537.64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397551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Search Logic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31.20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942.55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34269"/>
                  </a:ext>
                </a:extLst>
              </a:tr>
              <a:tr h="474512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Integrate Backend Admin with LG CMS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24.00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725.04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190663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Create Front End Layout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36.00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1,087.56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262512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Developer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Admin Panel Hosting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A(F)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48.00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1,450.08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849230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Sub Total (1)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    30.21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388.40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$ 11,733.56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13.8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78979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8C3597-1DEE-D06E-D6F6-B95C685FF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175872"/>
              </p:ext>
            </p:extLst>
          </p:nvPr>
        </p:nvGraphicFramePr>
        <p:xfrm>
          <a:off x="1885948" y="4978197"/>
          <a:ext cx="8578851" cy="1423536"/>
        </p:xfrm>
        <a:graphic>
          <a:graphicData uri="http://schemas.openxmlformats.org/drawingml/2006/table">
            <a:tbl>
              <a:tblPr/>
              <a:tblGrid>
                <a:gridCol w="1690949">
                  <a:extLst>
                    <a:ext uri="{9D8B030D-6E8A-4147-A177-3AD203B41FA5}">
                      <a16:colId xmlns:a16="http://schemas.microsoft.com/office/drawing/2014/main" val="3865347257"/>
                    </a:ext>
                  </a:extLst>
                </a:gridCol>
                <a:gridCol w="2454978">
                  <a:extLst>
                    <a:ext uri="{9D8B030D-6E8A-4147-A177-3AD203B41FA5}">
                      <a16:colId xmlns:a16="http://schemas.microsoft.com/office/drawing/2014/main" val="3538598094"/>
                    </a:ext>
                  </a:extLst>
                </a:gridCol>
                <a:gridCol w="779543">
                  <a:extLst>
                    <a:ext uri="{9D8B030D-6E8A-4147-A177-3AD203B41FA5}">
                      <a16:colId xmlns:a16="http://schemas.microsoft.com/office/drawing/2014/main" val="4208160163"/>
                    </a:ext>
                  </a:extLst>
                </a:gridCol>
                <a:gridCol w="1093687">
                  <a:extLst>
                    <a:ext uri="{9D8B030D-6E8A-4147-A177-3AD203B41FA5}">
                      <a16:colId xmlns:a16="http://schemas.microsoft.com/office/drawing/2014/main" val="3721759607"/>
                    </a:ext>
                  </a:extLst>
                </a:gridCol>
                <a:gridCol w="674829">
                  <a:extLst>
                    <a:ext uri="{9D8B030D-6E8A-4147-A177-3AD203B41FA5}">
                      <a16:colId xmlns:a16="http://schemas.microsoft.com/office/drawing/2014/main" val="2873651437"/>
                    </a:ext>
                  </a:extLst>
                </a:gridCol>
                <a:gridCol w="1151862">
                  <a:extLst>
                    <a:ext uri="{9D8B030D-6E8A-4147-A177-3AD203B41FA5}">
                      <a16:colId xmlns:a16="http://schemas.microsoft.com/office/drawing/2014/main" val="677379520"/>
                    </a:ext>
                  </a:extLst>
                </a:gridCol>
                <a:gridCol w="733003">
                  <a:extLst>
                    <a:ext uri="{9D8B030D-6E8A-4147-A177-3AD203B41FA5}">
                      <a16:colId xmlns:a16="http://schemas.microsoft.com/office/drawing/2014/main" val="1199031807"/>
                    </a:ext>
                  </a:extLst>
                </a:gridCol>
              </a:tblGrid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Task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Cost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Years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226951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Hosting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Database hosting Cost for 3 years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3,000.00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517340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Maintenance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Support for maintenance for 3 Years </a:t>
                      </a:r>
                      <a:r>
                        <a:rPr lang="en-GB" sz="1100" b="0" i="0" u="none" strike="noStrike" dirty="0">
                          <a:solidFill>
                            <a:srgbClr val="A50034"/>
                          </a:solidFill>
                          <a:effectLst/>
                          <a:latin typeface="Arial Nova" panose="020B0504020202020204" pitchFamily="34" charset="0"/>
                        </a:rPr>
                        <a:t>(Limited, No change request)</a:t>
                      </a:r>
                      <a:r>
                        <a:rPr lang="en-GB" sz="1400" b="0" i="0" u="none" strike="noStrike" dirty="0">
                          <a:solidFill>
                            <a:srgbClr val="A50034"/>
                          </a:solidFill>
                          <a:effectLst/>
                          <a:latin typeface="Arial Nova" panose="020B0504020202020204" pitchFamily="34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1,440.00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859979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               Sub Total 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1" i="0" u="none" strike="noStrike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  4,440.00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698813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endParaRPr lang="en-AE" sz="1400" b="1" i="0" u="none" strike="noStrike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1400" b="1" i="0" u="none" strike="noStrike" dirty="0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AE" sz="1400" b="1" i="0" u="none" strike="noStrike" dirty="0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1400" b="1" i="0" u="none" strike="noStrike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1400" b="1" i="0" u="none" strike="noStrike" dirty="0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1400" b="1" i="0" u="none" strike="noStrike" dirty="0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AE" sz="1400" b="1" i="0" u="none" strike="noStrike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2582258"/>
                  </a:ext>
                </a:extLst>
              </a:tr>
              <a:tr h="237256">
                <a:tc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               TOTAL (1+2)</a:t>
                      </a:r>
                      <a:endParaRPr lang="en-AE" sz="1400" b="1" i="0" u="none" strike="noStrike" dirty="0">
                        <a:solidFill>
                          <a:srgbClr val="000000"/>
                        </a:solidFill>
                        <a:effectLst/>
                        <a:latin typeface="Arial Nova" panose="020B05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AE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 $ 16,173.56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ova" panose="020B0504020202020204" pitchFamily="34" charset="0"/>
                        </a:rPr>
                        <a:t>3 Years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2018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6E61226-A44E-943B-F11F-267B0719D4EF}"/>
              </a:ext>
            </a:extLst>
          </p:cNvPr>
          <p:cNvSpPr txBox="1"/>
          <p:nvPr/>
        </p:nvSpPr>
        <p:spPr>
          <a:xfrm>
            <a:off x="838201" y="967183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Nova" panose="020B0504020202020204" pitchFamily="34" charset="0"/>
              </a:rPr>
              <a:t>The cost includes 3 years of support and hosting charges, after 3 years the hosting needs to be renewed. </a:t>
            </a:r>
            <a:r>
              <a:rPr lang="en-US" sz="1400" dirty="0">
                <a:solidFill>
                  <a:srgbClr val="A50034"/>
                </a:solidFill>
                <a:highlight>
                  <a:srgbClr val="FFFF00"/>
                </a:highlight>
                <a:latin typeface="Arial Nova" panose="020B0504020202020204" pitchFamily="34" charset="0"/>
              </a:rPr>
              <a:t>The estimated time is 14 days to complete the development after LPO Confirmation.</a:t>
            </a:r>
            <a:endParaRPr lang="en-AE" dirty="0">
              <a:solidFill>
                <a:srgbClr val="A50034"/>
              </a:solidFill>
              <a:highlight>
                <a:srgbClr val="FFFF00"/>
              </a:highlight>
              <a:latin typeface="Arial Nova" panose="020B05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60C92-5585-61A2-E993-5D9F66D73B64}"/>
              </a:ext>
            </a:extLst>
          </p:cNvPr>
          <p:cNvSpPr txBox="1"/>
          <p:nvPr/>
        </p:nvSpPr>
        <p:spPr>
          <a:xfrm>
            <a:off x="838200" y="6409180"/>
            <a:ext cx="10515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A50034"/>
                </a:solidFill>
                <a:latin typeface="Arial Nova" panose="020B0504020202020204" pitchFamily="34" charset="0"/>
              </a:rPr>
              <a:t>*UI &amp; UX Designing not included</a:t>
            </a:r>
          </a:p>
          <a:p>
            <a:r>
              <a:rPr lang="en-US" sz="1100" dirty="0">
                <a:solidFill>
                  <a:srgbClr val="A50034"/>
                </a:solidFill>
                <a:latin typeface="Arial Nova" panose="020B0504020202020204" pitchFamily="34" charset="0"/>
              </a:rPr>
              <a:t>*Any New Change Request will be charged separately.</a:t>
            </a:r>
            <a:endParaRPr lang="en-AE" sz="1100" dirty="0">
              <a:solidFill>
                <a:srgbClr val="A50034"/>
              </a:solidFill>
              <a:latin typeface="Arial Nova" panose="020B05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183284-8FBE-759F-F816-3992D9DDB746}"/>
              </a:ext>
            </a:extLst>
          </p:cNvPr>
          <p:cNvSpPr txBox="1"/>
          <p:nvPr/>
        </p:nvSpPr>
        <p:spPr>
          <a:xfrm>
            <a:off x="7968344" y="6424074"/>
            <a:ext cx="2496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A50034"/>
                </a:solidFill>
                <a:latin typeface="Arial Nova" panose="020B0504020202020204" pitchFamily="34" charset="0"/>
              </a:rPr>
              <a:t>*Excluding Vat 5%</a:t>
            </a:r>
            <a:endParaRPr lang="en-AE" sz="1100" dirty="0">
              <a:solidFill>
                <a:srgbClr val="A50034"/>
              </a:solidFill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00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0D2E4-3CE9-427D-BE37-B39BCC395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END</a:t>
            </a:r>
            <a:endParaRPr lang="en-AE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6EF72-0795-E9D6-E105-8E546406F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7691" y="3602038"/>
            <a:ext cx="10140592" cy="276794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105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 Light" panose="020B0304020202020204" pitchFamily="34" charset="0"/>
              </a:rPr>
              <a:t>Collect Customer Data to make customized marketing &amp; up-selling</a:t>
            </a:r>
          </a:p>
          <a:p>
            <a:pPr>
              <a:spcBef>
                <a:spcPts val="0"/>
              </a:spcBef>
            </a:pPr>
            <a:r>
              <a:rPr lang="en-US" sz="105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 Light" panose="020B0304020202020204" pitchFamily="34" charset="0"/>
              </a:rPr>
              <a:t>your products.</a:t>
            </a: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>
              <a:spcBef>
                <a:spcPts val="0"/>
              </a:spcBef>
            </a:pP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sz="105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 Light" panose="020B0304020202020204" pitchFamily="34" charset="0"/>
              </a:rPr>
              <a:t>Contact me:</a:t>
            </a: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sz="105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 Light" panose="020B0304020202020204" pitchFamily="34" charset="0"/>
              </a:rPr>
              <a:t>Email: </a:t>
            </a:r>
            <a:r>
              <a:rPr lang="en-US" sz="105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 Light" panose="020B03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mansoor.syed@hsadmea.com</a:t>
            </a:r>
            <a:endParaRPr lang="en-US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n-US" sz="105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 Light" panose="020B0304020202020204" pitchFamily="34" charset="0"/>
              </a:rPr>
              <a:t>Phone: +971 553244057</a:t>
            </a:r>
          </a:p>
          <a:p>
            <a:pPr>
              <a:spcBef>
                <a:spcPts val="0"/>
              </a:spcBef>
            </a:pPr>
            <a:endParaRPr lang="en-AE" sz="105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venir Next LT Pro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833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16069</TotalTime>
  <Words>998</Words>
  <Application>Microsoft Office PowerPoint</Application>
  <PresentationFormat>Widescreen</PresentationFormat>
  <Paragraphs>501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맑은 고딕</vt:lpstr>
      <vt:lpstr>Arial</vt:lpstr>
      <vt:lpstr>Arial Nova</vt:lpstr>
      <vt:lpstr>Arial Nova Light</vt:lpstr>
      <vt:lpstr>Avenir Next LT Pro Light</vt:lpstr>
      <vt:lpstr>Calibri</vt:lpstr>
      <vt:lpstr>Calibri Light</vt:lpstr>
      <vt:lpstr>LG Smart Light</vt:lpstr>
      <vt:lpstr>Office Theme</vt:lpstr>
      <vt:lpstr>LGESR_SASO_Microsite</vt:lpstr>
      <vt:lpstr>Illustration Sample – Front End Desktop</vt:lpstr>
      <vt:lpstr>Illustration Sample – Front End Desktop</vt:lpstr>
      <vt:lpstr>Illustration Sample – Back End Desktop</vt:lpstr>
      <vt:lpstr>Illustration Sample – Back End Desktop</vt:lpstr>
      <vt:lpstr>Illustration Sample – Back End Desktop</vt:lpstr>
      <vt:lpstr>Illustration Sample – Back End Desktop</vt:lpstr>
      <vt:lpstr>Illustration Sample – Back End Desktop</vt:lpstr>
      <vt:lpstr>Development Cost &amp; Timeline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Mansoor Syed</dc:creator>
  <cp:lastModifiedBy>Mansoor Syed</cp:lastModifiedBy>
  <cp:revision>224</cp:revision>
  <cp:lastPrinted>2023-07-09T10:12:44Z</cp:lastPrinted>
  <dcterms:created xsi:type="dcterms:W3CDTF">2023-01-16T10:02:11Z</dcterms:created>
  <dcterms:modified xsi:type="dcterms:W3CDTF">2023-07-11T04:55:21Z</dcterms:modified>
</cp:coreProperties>
</file>